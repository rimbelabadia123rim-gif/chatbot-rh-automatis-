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2" r:id="rId15"/>
    <p:sldId id="269" r:id="rId16"/>
    <p:sldId id="270" r:id="rId17"/>
    <p:sldId id="271" r:id="rId18"/>
  </p:sldIdLst>
  <p:sldSz cx="18288000" cy="10287000"/>
  <p:notesSz cx="6858000" cy="9144000"/>
  <p:embeddedFontLst>
    <p:embeddedFont>
      <p:font typeface="Codec Pro" panose="020B0604020202020204" charset="0"/>
      <p:regular r:id="rId19"/>
    </p:embeddedFont>
    <p:embeddedFont>
      <p:font typeface="Codec Pro Bold" panose="020B0604020202020204" charset="0"/>
      <p:regular r:id="rId20"/>
    </p:embeddedFont>
    <p:embeddedFont>
      <p:font typeface="Open Sans" panose="020B0606030504020204" pitchFamily="34" charset="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2.png"/><Relationship Id="rId7" Type="http://schemas.openxmlformats.org/officeDocument/2006/relationships/image" Target="../media/image10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11" Type="http://schemas.openxmlformats.org/officeDocument/2006/relationships/image" Target="../media/image14.svg"/><Relationship Id="rId5" Type="http://schemas.openxmlformats.org/officeDocument/2006/relationships/image" Target="../media/image1.png"/><Relationship Id="rId10" Type="http://schemas.openxmlformats.org/officeDocument/2006/relationships/image" Target="../media/image13.png"/><Relationship Id="rId4" Type="http://schemas.openxmlformats.org/officeDocument/2006/relationships/image" Target="../media/image3.svg"/><Relationship Id="rId9" Type="http://schemas.openxmlformats.org/officeDocument/2006/relationships/image" Target="../media/image12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9673927" cy="10708316"/>
            <a:chOff x="0" y="0"/>
            <a:chExt cx="2547865" cy="282029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547865" cy="2820297"/>
            </a:xfrm>
            <a:custGeom>
              <a:avLst/>
              <a:gdLst/>
              <a:ahLst/>
              <a:cxnLst/>
              <a:rect l="l" t="t" r="r" b="b"/>
              <a:pathLst>
                <a:path w="2547865" h="2820297">
                  <a:moveTo>
                    <a:pt x="0" y="0"/>
                  </a:moveTo>
                  <a:lnTo>
                    <a:pt x="2547865" y="0"/>
                  </a:lnTo>
                  <a:lnTo>
                    <a:pt x="2547865" y="2820297"/>
                  </a:lnTo>
                  <a:lnTo>
                    <a:pt x="0" y="2820297"/>
                  </a:lnTo>
                  <a:close/>
                </a:path>
              </a:pathLst>
            </a:custGeom>
            <a:solidFill>
              <a:srgbClr val="82C2E6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547865" cy="28583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677047" y="7128324"/>
            <a:ext cx="15662715" cy="2721397"/>
          </a:xfrm>
          <a:custGeom>
            <a:avLst/>
            <a:gdLst/>
            <a:ahLst/>
            <a:cxnLst/>
            <a:rect l="l" t="t" r="r" b="b"/>
            <a:pathLst>
              <a:path w="15662715" h="2721397">
                <a:moveTo>
                  <a:pt x="0" y="0"/>
                </a:moveTo>
                <a:lnTo>
                  <a:pt x="15662715" y="0"/>
                </a:lnTo>
                <a:lnTo>
                  <a:pt x="15662715" y="2721397"/>
                </a:lnTo>
                <a:lnTo>
                  <a:pt x="0" y="27213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6000"/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2277501" y="1559018"/>
            <a:ext cx="7396425" cy="7168964"/>
            <a:chOff x="0" y="0"/>
            <a:chExt cx="2650712" cy="256919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650712" cy="2569195"/>
            </a:xfrm>
            <a:custGeom>
              <a:avLst/>
              <a:gdLst/>
              <a:ahLst/>
              <a:cxnLst/>
              <a:rect l="l" t="t" r="r" b="b"/>
              <a:pathLst>
                <a:path w="2650712" h="2569195">
                  <a:moveTo>
                    <a:pt x="58616" y="0"/>
                  </a:moveTo>
                  <a:lnTo>
                    <a:pt x="2592096" y="0"/>
                  </a:lnTo>
                  <a:cubicBezTo>
                    <a:pt x="2624469" y="0"/>
                    <a:pt x="2650712" y="26243"/>
                    <a:pt x="2650712" y="58616"/>
                  </a:cubicBezTo>
                  <a:lnTo>
                    <a:pt x="2650712" y="2510579"/>
                  </a:lnTo>
                  <a:cubicBezTo>
                    <a:pt x="2650712" y="2526125"/>
                    <a:pt x="2644536" y="2541034"/>
                    <a:pt x="2633544" y="2552027"/>
                  </a:cubicBezTo>
                  <a:cubicBezTo>
                    <a:pt x="2622551" y="2563019"/>
                    <a:pt x="2607642" y="2569195"/>
                    <a:pt x="2592096" y="2569195"/>
                  </a:cubicBezTo>
                  <a:lnTo>
                    <a:pt x="58616" y="2569195"/>
                  </a:lnTo>
                  <a:cubicBezTo>
                    <a:pt x="26243" y="2569195"/>
                    <a:pt x="0" y="2542952"/>
                    <a:pt x="0" y="2510579"/>
                  </a:cubicBezTo>
                  <a:lnTo>
                    <a:pt x="0" y="58616"/>
                  </a:lnTo>
                  <a:cubicBezTo>
                    <a:pt x="0" y="26243"/>
                    <a:pt x="26243" y="0"/>
                    <a:pt x="58616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2650712" cy="26168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52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587827" y="1559018"/>
            <a:ext cx="3086100" cy="7168964"/>
            <a:chOff x="0" y="0"/>
            <a:chExt cx="812800" cy="188812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1888122"/>
            </a:xfrm>
            <a:custGeom>
              <a:avLst/>
              <a:gdLst/>
              <a:ahLst/>
              <a:cxnLst/>
              <a:rect l="l" t="t" r="r" b="b"/>
              <a:pathLst>
                <a:path w="812800" h="1888122">
                  <a:moveTo>
                    <a:pt x="0" y="0"/>
                  </a:moveTo>
                  <a:lnTo>
                    <a:pt x="812800" y="0"/>
                  </a:lnTo>
                  <a:lnTo>
                    <a:pt x="812800" y="1888122"/>
                  </a:lnTo>
                  <a:lnTo>
                    <a:pt x="0" y="188812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812800" cy="192622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16881027" y="671982"/>
            <a:ext cx="917470" cy="756638"/>
          </a:xfrm>
          <a:custGeom>
            <a:avLst/>
            <a:gdLst/>
            <a:ahLst/>
            <a:cxnLst/>
            <a:rect l="l" t="t" r="r" b="b"/>
            <a:pathLst>
              <a:path w="917470" h="756638">
                <a:moveTo>
                  <a:pt x="0" y="0"/>
                </a:moveTo>
                <a:lnTo>
                  <a:pt x="917470" y="0"/>
                </a:lnTo>
                <a:lnTo>
                  <a:pt x="917470" y="756638"/>
                </a:lnTo>
                <a:lnTo>
                  <a:pt x="0" y="75663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3" name="AutoShape 13"/>
          <p:cNvSpPr/>
          <p:nvPr/>
        </p:nvSpPr>
        <p:spPr>
          <a:xfrm flipH="1" flipV="1">
            <a:off x="2800793" y="2246683"/>
            <a:ext cx="0" cy="5540773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4" name="Freeform 14"/>
          <p:cNvSpPr/>
          <p:nvPr/>
        </p:nvSpPr>
        <p:spPr>
          <a:xfrm>
            <a:off x="9508404" y="1559018"/>
            <a:ext cx="7831357" cy="7168964"/>
          </a:xfrm>
          <a:custGeom>
            <a:avLst/>
            <a:gdLst/>
            <a:ahLst/>
            <a:cxnLst/>
            <a:rect l="l" t="t" r="r" b="b"/>
            <a:pathLst>
              <a:path w="7831357" h="7168964">
                <a:moveTo>
                  <a:pt x="0" y="0"/>
                </a:moveTo>
                <a:lnTo>
                  <a:pt x="7831358" y="0"/>
                </a:lnTo>
                <a:lnTo>
                  <a:pt x="7831358" y="7168964"/>
                </a:lnTo>
                <a:lnTo>
                  <a:pt x="0" y="716896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43913" r="-31259"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13836360" y="9657909"/>
            <a:ext cx="4451640" cy="6290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00"/>
              </a:lnSpc>
            </a:pPr>
            <a:r>
              <a:rPr lang="en-US" sz="3357" b="1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Rim Belabadia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970544" y="3124100"/>
            <a:ext cx="6343207" cy="48969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517"/>
              </a:lnSpc>
            </a:pPr>
            <a:r>
              <a:rPr lang="en-US" sz="6896" b="1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Chatbot Intelligent à Architecture Moderne</a:t>
            </a:r>
          </a:p>
          <a:p>
            <a:pPr algn="l">
              <a:lnSpc>
                <a:spcPts val="7517"/>
              </a:lnSpc>
            </a:pPr>
            <a:endParaRPr lang="en-US" sz="6896" b="1">
              <a:solidFill>
                <a:srgbClr val="000000"/>
              </a:solidFill>
              <a:latin typeface="Codec Pro Bold"/>
              <a:ea typeface="Codec Pro Bold"/>
              <a:cs typeface="Codec Pro Bold"/>
              <a:sym typeface="Codec Pro 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9360054" cy="10614589"/>
            <a:chOff x="0" y="0"/>
            <a:chExt cx="2465199" cy="279561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65199" cy="2795612"/>
            </a:xfrm>
            <a:custGeom>
              <a:avLst/>
              <a:gdLst/>
              <a:ahLst/>
              <a:cxnLst/>
              <a:rect l="l" t="t" r="r" b="b"/>
              <a:pathLst>
                <a:path w="2465199" h="2795612">
                  <a:moveTo>
                    <a:pt x="0" y="0"/>
                  </a:moveTo>
                  <a:lnTo>
                    <a:pt x="2465199" y="0"/>
                  </a:lnTo>
                  <a:lnTo>
                    <a:pt x="2465199" y="2795612"/>
                  </a:lnTo>
                  <a:lnTo>
                    <a:pt x="0" y="2795612"/>
                  </a:lnTo>
                  <a:close/>
                </a:path>
              </a:pathLst>
            </a:custGeom>
            <a:solidFill>
              <a:srgbClr val="82C2E6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465199" cy="28337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312643" y="5114093"/>
            <a:ext cx="15662715" cy="2721397"/>
          </a:xfrm>
          <a:custGeom>
            <a:avLst/>
            <a:gdLst/>
            <a:ahLst/>
            <a:cxnLst/>
            <a:rect l="l" t="t" r="r" b="b"/>
            <a:pathLst>
              <a:path w="15662715" h="2721397">
                <a:moveTo>
                  <a:pt x="0" y="0"/>
                </a:moveTo>
                <a:lnTo>
                  <a:pt x="15662714" y="0"/>
                </a:lnTo>
                <a:lnTo>
                  <a:pt x="15662714" y="2721396"/>
                </a:lnTo>
                <a:lnTo>
                  <a:pt x="0" y="27213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6000"/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675346" y="-455214"/>
            <a:ext cx="14841277" cy="7168964"/>
          </a:xfrm>
          <a:custGeom>
            <a:avLst/>
            <a:gdLst/>
            <a:ahLst/>
            <a:cxnLst/>
            <a:rect l="l" t="t" r="r" b="b"/>
            <a:pathLst>
              <a:path w="14841277" h="7168964">
                <a:moveTo>
                  <a:pt x="0" y="0"/>
                </a:moveTo>
                <a:lnTo>
                  <a:pt x="14841277" y="0"/>
                </a:lnTo>
                <a:lnTo>
                  <a:pt x="14841277" y="7168964"/>
                </a:lnTo>
                <a:lnTo>
                  <a:pt x="0" y="71689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8963" b="-18963"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6881027" y="671982"/>
            <a:ext cx="917470" cy="756638"/>
          </a:xfrm>
          <a:custGeom>
            <a:avLst/>
            <a:gdLst/>
            <a:ahLst/>
            <a:cxnLst/>
            <a:rect l="l" t="t" r="r" b="b"/>
            <a:pathLst>
              <a:path w="917470" h="756638">
                <a:moveTo>
                  <a:pt x="0" y="0"/>
                </a:moveTo>
                <a:lnTo>
                  <a:pt x="917470" y="0"/>
                </a:lnTo>
                <a:lnTo>
                  <a:pt x="917470" y="756638"/>
                </a:lnTo>
                <a:lnTo>
                  <a:pt x="0" y="7566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2328610" y="7109650"/>
            <a:ext cx="6343207" cy="10869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7517"/>
              </a:lnSpc>
            </a:pPr>
            <a:r>
              <a:rPr lang="en-US" sz="6896" b="1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Sommaire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802067" y="7315313"/>
            <a:ext cx="3475216" cy="18101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00"/>
              </a:lnSpc>
            </a:pPr>
            <a:r>
              <a:rPr lang="en-US" sz="3357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01. Introduction</a:t>
            </a:r>
          </a:p>
          <a:p>
            <a:pPr algn="l">
              <a:lnSpc>
                <a:spcPts val="4700"/>
              </a:lnSpc>
            </a:pPr>
            <a:r>
              <a:rPr lang="en-US" sz="3357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02. Contexte</a:t>
            </a:r>
          </a:p>
          <a:p>
            <a:pPr algn="l">
              <a:lnSpc>
                <a:spcPts val="4700"/>
              </a:lnSpc>
            </a:pPr>
            <a:r>
              <a:rPr lang="en-US" sz="3357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03. Innovation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3367711" y="7315313"/>
            <a:ext cx="5062815" cy="18101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00"/>
              </a:lnSpc>
            </a:pPr>
            <a:r>
              <a:rPr lang="en-US" sz="3357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04. Architecture Globale</a:t>
            </a:r>
          </a:p>
          <a:p>
            <a:pPr algn="l">
              <a:lnSpc>
                <a:spcPts val="4700"/>
              </a:lnSpc>
            </a:pPr>
            <a:r>
              <a:rPr lang="en-US" sz="3357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05. Conception UML</a:t>
            </a:r>
          </a:p>
          <a:p>
            <a:pPr algn="l">
              <a:lnSpc>
                <a:spcPts val="4700"/>
              </a:lnSpc>
            </a:pPr>
            <a:r>
              <a:rPr lang="en-US" sz="3357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06. Démonstration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210844" y="0"/>
            <a:ext cx="6077156" cy="10287000"/>
            <a:chOff x="0" y="0"/>
            <a:chExt cx="8102875" cy="13716000"/>
          </a:xfrm>
        </p:grpSpPr>
        <p:pic>
          <p:nvPicPr>
            <p:cNvPr id="3" name="Picture 3"/>
            <p:cNvPicPr>
              <a:picLocks noChangeAspect="1"/>
            </p:cNvPicPr>
            <p:nvPr/>
          </p:nvPicPr>
          <p:blipFill>
            <a:blip r:embed="rId2"/>
            <a:srcRect l="32757" r="32757"/>
            <a:stretch>
              <a:fillRect/>
            </a:stretch>
          </p:blipFill>
          <p:spPr>
            <a:xfrm>
              <a:off x="0" y="0"/>
              <a:ext cx="8102875" cy="13716000"/>
            </a:xfrm>
            <a:prstGeom prst="rect">
              <a:avLst/>
            </a:prstGeom>
          </p:spPr>
        </p:pic>
      </p:grpSp>
      <p:sp>
        <p:nvSpPr>
          <p:cNvPr id="4" name="Freeform 4"/>
          <p:cNvSpPr/>
          <p:nvPr/>
        </p:nvSpPr>
        <p:spPr>
          <a:xfrm>
            <a:off x="569965" y="650381"/>
            <a:ext cx="917470" cy="756638"/>
          </a:xfrm>
          <a:custGeom>
            <a:avLst/>
            <a:gdLst/>
            <a:ahLst/>
            <a:cxnLst/>
            <a:rect l="l" t="t" r="r" b="b"/>
            <a:pathLst>
              <a:path w="917470" h="756638">
                <a:moveTo>
                  <a:pt x="0" y="0"/>
                </a:moveTo>
                <a:lnTo>
                  <a:pt x="917470" y="0"/>
                </a:lnTo>
                <a:lnTo>
                  <a:pt x="917470" y="756638"/>
                </a:lnTo>
                <a:lnTo>
                  <a:pt x="0" y="75663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569965" y="2280771"/>
            <a:ext cx="11155615" cy="70851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280"/>
              </a:lnSpc>
            </a:pPr>
            <a:r>
              <a:rPr lang="en-US" sz="3057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Dans un paysage numérique en constante évolution, les assistants conversationnels représentent une révolution dans les interactions homme-machine. Notre projet s'inscrit dans cette dynamique en proposant une solution d'assistance intelligente qui combine :</a:t>
            </a:r>
          </a:p>
          <a:p>
            <a:pPr algn="just">
              <a:lnSpc>
                <a:spcPts val="4280"/>
              </a:lnSpc>
            </a:pPr>
            <a:endParaRPr lang="en-US" sz="3057">
              <a:solidFill>
                <a:srgbClr val="000000"/>
              </a:solidFill>
              <a:latin typeface="Codec Pro"/>
              <a:ea typeface="Codec Pro"/>
              <a:cs typeface="Codec Pro"/>
              <a:sym typeface="Codec Pro"/>
            </a:endParaRPr>
          </a:p>
          <a:p>
            <a:pPr marL="660144" lvl="1" indent="-330072" algn="just">
              <a:lnSpc>
                <a:spcPts val="4280"/>
              </a:lnSpc>
              <a:buFont typeface="Arial"/>
              <a:buChar char="•"/>
            </a:pPr>
            <a:r>
              <a:rPr lang="en-US" sz="3057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Compréhension contextuelle avancée via des modèles de NLP state-of-the-art</a:t>
            </a:r>
          </a:p>
          <a:p>
            <a:pPr marL="660144" lvl="1" indent="-330072" algn="just">
              <a:lnSpc>
                <a:spcPts val="4280"/>
              </a:lnSpc>
              <a:buFont typeface="Arial"/>
              <a:buChar char="•"/>
            </a:pPr>
            <a:r>
              <a:rPr lang="en-US" sz="3057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Personnalisation selon une base de données</a:t>
            </a:r>
          </a:p>
          <a:p>
            <a:pPr marL="660144" lvl="1" indent="-330072" algn="just">
              <a:lnSpc>
                <a:spcPts val="4280"/>
              </a:lnSpc>
              <a:buFont typeface="Arial"/>
              <a:buChar char="•"/>
            </a:pPr>
            <a:r>
              <a:rPr lang="en-US" sz="3057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Apprentissage continu grâce à l'analyse des historiques de conversation</a:t>
            </a:r>
          </a:p>
          <a:p>
            <a:pPr marL="660144" lvl="1" indent="-330072" algn="just">
              <a:lnSpc>
                <a:spcPts val="4280"/>
              </a:lnSpc>
              <a:buFont typeface="Arial"/>
              <a:buChar char="•"/>
            </a:pPr>
            <a:r>
              <a:rPr lang="en-US" sz="3057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Automatisation des tâches</a:t>
            </a:r>
          </a:p>
          <a:p>
            <a:pPr algn="just">
              <a:lnSpc>
                <a:spcPts val="4280"/>
              </a:lnSpc>
            </a:pPr>
            <a:endParaRPr lang="en-US" sz="3057">
              <a:solidFill>
                <a:srgbClr val="000000"/>
              </a:solidFill>
              <a:latin typeface="Codec Pro"/>
              <a:ea typeface="Codec Pro"/>
              <a:cs typeface="Codec Pro"/>
              <a:sym typeface="Codec Pro"/>
            </a:endParaRPr>
          </a:p>
        </p:txBody>
      </p:sp>
      <p:sp>
        <p:nvSpPr>
          <p:cNvPr id="6" name="AutoShape 6"/>
          <p:cNvSpPr/>
          <p:nvPr/>
        </p:nvSpPr>
        <p:spPr>
          <a:xfrm flipH="1">
            <a:off x="1487435" y="9599490"/>
            <a:ext cx="9613604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TextBox 7"/>
          <p:cNvSpPr txBox="1"/>
          <p:nvPr/>
        </p:nvSpPr>
        <p:spPr>
          <a:xfrm>
            <a:off x="1853091" y="612281"/>
            <a:ext cx="8479229" cy="10869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517"/>
              </a:lnSpc>
            </a:pPr>
            <a:r>
              <a:rPr lang="en-US" sz="6896" b="1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Introduction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17844" y="9242082"/>
            <a:ext cx="1269591" cy="6290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00"/>
              </a:lnSpc>
            </a:pPr>
            <a:r>
              <a:rPr lang="en-US" sz="3357" b="1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01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210844" y="0"/>
            <a:ext cx="6077156" cy="10287000"/>
            <a:chOff x="0" y="0"/>
            <a:chExt cx="8102875" cy="13716000"/>
          </a:xfrm>
        </p:grpSpPr>
        <p:pic>
          <p:nvPicPr>
            <p:cNvPr id="3" name="Picture 3"/>
            <p:cNvPicPr>
              <a:picLocks noChangeAspect="1"/>
            </p:cNvPicPr>
            <p:nvPr/>
          </p:nvPicPr>
          <p:blipFill>
            <a:blip r:embed="rId2"/>
            <a:srcRect l="38923" r="38923"/>
            <a:stretch>
              <a:fillRect/>
            </a:stretch>
          </p:blipFill>
          <p:spPr>
            <a:xfrm>
              <a:off x="0" y="0"/>
              <a:ext cx="8102875" cy="13716000"/>
            </a:xfrm>
            <a:prstGeom prst="rect">
              <a:avLst/>
            </a:prstGeom>
          </p:spPr>
        </p:pic>
      </p:grpSp>
      <p:sp>
        <p:nvSpPr>
          <p:cNvPr id="4" name="TextBox 4"/>
          <p:cNvSpPr txBox="1"/>
          <p:nvPr/>
        </p:nvSpPr>
        <p:spPr>
          <a:xfrm>
            <a:off x="1853091" y="612281"/>
            <a:ext cx="8479229" cy="20394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517"/>
              </a:lnSpc>
            </a:pPr>
            <a:r>
              <a:rPr lang="en-US" sz="6896" b="1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Contexte et Enjeux</a:t>
            </a:r>
          </a:p>
          <a:p>
            <a:pPr algn="l">
              <a:lnSpc>
                <a:spcPts val="7517"/>
              </a:lnSpc>
            </a:pPr>
            <a:endParaRPr lang="en-US" sz="6896" b="1">
              <a:solidFill>
                <a:srgbClr val="000000"/>
              </a:solidFill>
              <a:latin typeface="Codec Pro Bold"/>
              <a:ea typeface="Codec Pro Bold"/>
              <a:cs typeface="Codec Pro Bold"/>
              <a:sym typeface="Codec Pro Bold"/>
            </a:endParaRPr>
          </a:p>
        </p:txBody>
      </p:sp>
      <p:sp>
        <p:nvSpPr>
          <p:cNvPr id="5" name="Freeform 5"/>
          <p:cNvSpPr/>
          <p:nvPr/>
        </p:nvSpPr>
        <p:spPr>
          <a:xfrm>
            <a:off x="569965" y="650381"/>
            <a:ext cx="917470" cy="756638"/>
          </a:xfrm>
          <a:custGeom>
            <a:avLst/>
            <a:gdLst/>
            <a:ahLst/>
            <a:cxnLst/>
            <a:rect l="l" t="t" r="r" b="b"/>
            <a:pathLst>
              <a:path w="917470" h="756638">
                <a:moveTo>
                  <a:pt x="0" y="0"/>
                </a:moveTo>
                <a:lnTo>
                  <a:pt x="917470" y="0"/>
                </a:lnTo>
                <a:lnTo>
                  <a:pt x="917470" y="756638"/>
                </a:lnTo>
                <a:lnTo>
                  <a:pt x="0" y="75663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569965" y="1953693"/>
            <a:ext cx="11155615" cy="108856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280"/>
              </a:lnSpc>
            </a:pPr>
            <a:r>
              <a:rPr lang="en-US" sz="3057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Notre chatbot intelligent va au-delà du simple échange textuel : il comprend, agit et apprend. En combinant NLP avancé et automatisation, il transforme les requêtes en actions concrètes comme la création de tickets ou la gestion de demandes.</a:t>
            </a:r>
          </a:p>
          <a:p>
            <a:pPr algn="just">
              <a:lnSpc>
                <a:spcPts val="4280"/>
              </a:lnSpc>
            </a:pPr>
            <a:endParaRPr lang="en-US" sz="3057">
              <a:solidFill>
                <a:srgbClr val="000000"/>
              </a:solidFill>
              <a:latin typeface="Codec Pro"/>
              <a:ea typeface="Codec Pro"/>
              <a:cs typeface="Codec Pro"/>
              <a:sym typeface="Codec Pro"/>
            </a:endParaRPr>
          </a:p>
          <a:p>
            <a:pPr algn="just">
              <a:lnSpc>
                <a:spcPts val="4280"/>
              </a:lnSpc>
            </a:pPr>
            <a:r>
              <a:rPr lang="en-US" sz="3057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Exemple : Un employé demande "Je veux faire une demande de congé" → le chatbot lui affiche un formulaire où enregistrer les données nécessaires et enregistre celà comme tâche sur la BD.</a:t>
            </a:r>
          </a:p>
          <a:p>
            <a:pPr algn="just">
              <a:lnSpc>
                <a:spcPts val="4280"/>
              </a:lnSpc>
            </a:pPr>
            <a:endParaRPr lang="en-US" sz="3057">
              <a:solidFill>
                <a:srgbClr val="000000"/>
              </a:solidFill>
              <a:latin typeface="Codec Pro"/>
              <a:ea typeface="Codec Pro"/>
              <a:cs typeface="Codec Pro"/>
              <a:sym typeface="Codec Pro"/>
            </a:endParaRPr>
          </a:p>
          <a:p>
            <a:pPr algn="just">
              <a:lnSpc>
                <a:spcPts val="4280"/>
              </a:lnSpc>
            </a:pPr>
            <a:r>
              <a:rPr lang="en-US" sz="3057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Cette solution allie réactivité et autonomie pour simplifier les workflows métiers. Découvrons son fonctionnement.</a:t>
            </a:r>
          </a:p>
          <a:p>
            <a:pPr algn="just">
              <a:lnSpc>
                <a:spcPts val="4280"/>
              </a:lnSpc>
            </a:pPr>
            <a:endParaRPr lang="en-US" sz="3057">
              <a:solidFill>
                <a:srgbClr val="000000"/>
              </a:solidFill>
              <a:latin typeface="Codec Pro"/>
              <a:ea typeface="Codec Pro"/>
              <a:cs typeface="Codec Pro"/>
              <a:sym typeface="Codec Pro"/>
            </a:endParaRPr>
          </a:p>
          <a:p>
            <a:pPr algn="just">
              <a:lnSpc>
                <a:spcPts val="4280"/>
              </a:lnSpc>
            </a:pPr>
            <a:endParaRPr lang="en-US" sz="3057">
              <a:solidFill>
                <a:srgbClr val="000000"/>
              </a:solidFill>
              <a:latin typeface="Codec Pro"/>
              <a:ea typeface="Codec Pro"/>
              <a:cs typeface="Codec Pro"/>
              <a:sym typeface="Codec Pro"/>
            </a:endParaRPr>
          </a:p>
          <a:p>
            <a:pPr algn="just">
              <a:lnSpc>
                <a:spcPts val="4280"/>
              </a:lnSpc>
            </a:pPr>
            <a:endParaRPr lang="en-US" sz="3057">
              <a:solidFill>
                <a:srgbClr val="000000"/>
              </a:solidFill>
              <a:latin typeface="Codec Pro"/>
              <a:ea typeface="Codec Pro"/>
              <a:cs typeface="Codec Pro"/>
              <a:sym typeface="Codec Pro"/>
            </a:endParaRPr>
          </a:p>
          <a:p>
            <a:pPr algn="just">
              <a:lnSpc>
                <a:spcPts val="4280"/>
              </a:lnSpc>
            </a:pPr>
            <a:endParaRPr lang="en-US" sz="3057">
              <a:solidFill>
                <a:srgbClr val="000000"/>
              </a:solidFill>
              <a:latin typeface="Codec Pro"/>
              <a:ea typeface="Codec Pro"/>
              <a:cs typeface="Codec Pro"/>
              <a:sym typeface="Codec Pro"/>
            </a:endParaRPr>
          </a:p>
          <a:p>
            <a:pPr algn="just">
              <a:lnSpc>
                <a:spcPts val="4280"/>
              </a:lnSpc>
            </a:pPr>
            <a:endParaRPr lang="en-US" sz="3057">
              <a:solidFill>
                <a:srgbClr val="000000"/>
              </a:solidFill>
              <a:latin typeface="Codec Pro"/>
              <a:ea typeface="Codec Pro"/>
              <a:cs typeface="Codec Pro"/>
              <a:sym typeface="Codec Pro"/>
            </a:endParaRPr>
          </a:p>
          <a:p>
            <a:pPr algn="just">
              <a:lnSpc>
                <a:spcPts val="4280"/>
              </a:lnSpc>
            </a:pPr>
            <a:endParaRPr lang="en-US" sz="3057">
              <a:solidFill>
                <a:srgbClr val="000000"/>
              </a:solidFill>
              <a:latin typeface="Codec Pro"/>
              <a:ea typeface="Codec Pro"/>
              <a:cs typeface="Codec Pro"/>
              <a:sym typeface="Codec Pro"/>
            </a:endParaRPr>
          </a:p>
          <a:p>
            <a:pPr algn="just">
              <a:lnSpc>
                <a:spcPts val="4280"/>
              </a:lnSpc>
            </a:pPr>
            <a:endParaRPr lang="en-US" sz="3057">
              <a:solidFill>
                <a:srgbClr val="000000"/>
              </a:solidFill>
              <a:latin typeface="Codec Pro"/>
              <a:ea typeface="Codec Pro"/>
              <a:cs typeface="Codec Pro"/>
              <a:sym typeface="Codec Pro"/>
            </a:endParaRPr>
          </a:p>
        </p:txBody>
      </p:sp>
      <p:sp>
        <p:nvSpPr>
          <p:cNvPr id="7" name="AutoShape 7"/>
          <p:cNvSpPr/>
          <p:nvPr/>
        </p:nvSpPr>
        <p:spPr>
          <a:xfrm flipH="1">
            <a:off x="1487435" y="9599490"/>
            <a:ext cx="9613604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" name="TextBox 8"/>
          <p:cNvSpPr txBox="1"/>
          <p:nvPr/>
        </p:nvSpPr>
        <p:spPr>
          <a:xfrm>
            <a:off x="217844" y="9242082"/>
            <a:ext cx="1269591" cy="6290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00"/>
              </a:lnSpc>
            </a:pPr>
            <a:r>
              <a:rPr lang="en-US" sz="3357" b="1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02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958948" y="607132"/>
            <a:ext cx="5090813" cy="20394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517"/>
              </a:lnSpc>
            </a:pPr>
            <a:r>
              <a:rPr lang="en-US" sz="6896" b="1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Innovation</a:t>
            </a:r>
          </a:p>
          <a:p>
            <a:pPr algn="l">
              <a:lnSpc>
                <a:spcPts val="7517"/>
              </a:lnSpc>
            </a:pPr>
            <a:endParaRPr lang="en-US" sz="6896" b="1">
              <a:solidFill>
                <a:srgbClr val="000000"/>
              </a:solidFill>
              <a:latin typeface="Codec Pro Bold"/>
              <a:ea typeface="Codec Pro Bold"/>
              <a:cs typeface="Codec Pro Bold"/>
              <a:sym typeface="Codec Pro Bold"/>
            </a:endParaRPr>
          </a:p>
        </p:txBody>
      </p:sp>
      <p:sp>
        <p:nvSpPr>
          <p:cNvPr id="3" name="Freeform 3"/>
          <p:cNvSpPr/>
          <p:nvPr/>
        </p:nvSpPr>
        <p:spPr>
          <a:xfrm>
            <a:off x="569965" y="650381"/>
            <a:ext cx="917470" cy="756638"/>
          </a:xfrm>
          <a:custGeom>
            <a:avLst/>
            <a:gdLst/>
            <a:ahLst/>
            <a:cxnLst/>
            <a:rect l="l" t="t" r="r" b="b"/>
            <a:pathLst>
              <a:path w="917470" h="756638">
                <a:moveTo>
                  <a:pt x="0" y="0"/>
                </a:moveTo>
                <a:lnTo>
                  <a:pt x="917470" y="0"/>
                </a:lnTo>
                <a:lnTo>
                  <a:pt x="917470" y="756638"/>
                </a:lnTo>
                <a:lnTo>
                  <a:pt x="0" y="7566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AutoShape 4"/>
          <p:cNvSpPr/>
          <p:nvPr/>
        </p:nvSpPr>
        <p:spPr>
          <a:xfrm flipH="1" flipV="1">
            <a:off x="1487435" y="9599490"/>
            <a:ext cx="15771865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TextBox 5"/>
          <p:cNvSpPr txBox="1"/>
          <p:nvPr/>
        </p:nvSpPr>
        <p:spPr>
          <a:xfrm>
            <a:off x="217844" y="9242082"/>
            <a:ext cx="1269591" cy="6290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00"/>
              </a:lnSpc>
            </a:pPr>
            <a:r>
              <a:rPr lang="en-US" sz="3357" b="1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03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95470" y="2017488"/>
            <a:ext cx="3705795" cy="6290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00"/>
              </a:lnSpc>
            </a:pPr>
            <a:r>
              <a:rPr lang="en-US" sz="3357" b="1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Couche Cognitive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09833" y="2768989"/>
            <a:ext cx="4584545" cy="68495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38554" lvl="1" indent="-319277" algn="just">
              <a:lnSpc>
                <a:spcPts val="4140"/>
              </a:lnSpc>
              <a:buFont typeface="Arial"/>
              <a:buChar char="•"/>
            </a:pPr>
            <a:r>
              <a:rPr lang="en-US" sz="2957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Modèle GPT-2 fine-tuné sur les données métier</a:t>
            </a:r>
          </a:p>
          <a:p>
            <a:pPr marL="638554" lvl="1" indent="-319277" algn="just">
              <a:lnSpc>
                <a:spcPts val="4140"/>
              </a:lnSpc>
              <a:buFont typeface="Arial"/>
              <a:buChar char="•"/>
            </a:pPr>
            <a:r>
              <a:rPr lang="en-US" sz="2957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Système de détection d'intentions à double détente :</a:t>
            </a:r>
          </a:p>
          <a:p>
            <a:pPr marL="1277109" lvl="2" indent="-425703" algn="just">
              <a:lnSpc>
                <a:spcPts val="4140"/>
              </a:lnSpc>
              <a:buFont typeface="Arial"/>
              <a:buChar char="⚬"/>
            </a:pPr>
            <a:r>
              <a:rPr lang="en-US" sz="2957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Règles métier explicites</a:t>
            </a:r>
          </a:p>
          <a:p>
            <a:pPr marL="1277109" lvl="2" indent="-425703" algn="just">
              <a:lnSpc>
                <a:spcPts val="4140"/>
              </a:lnSpc>
              <a:buFont typeface="Arial"/>
              <a:buChar char="⚬"/>
            </a:pPr>
            <a:r>
              <a:rPr lang="en-US" sz="2957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Classification automatique des nouvelles questions</a:t>
            </a:r>
          </a:p>
          <a:p>
            <a:pPr algn="just">
              <a:lnSpc>
                <a:spcPts val="4140"/>
              </a:lnSpc>
            </a:pPr>
            <a:endParaRPr lang="en-US" sz="2957">
              <a:solidFill>
                <a:srgbClr val="000000"/>
              </a:solidFill>
              <a:latin typeface="Codec Pro"/>
              <a:ea typeface="Codec Pro"/>
              <a:cs typeface="Codec Pro"/>
              <a:sym typeface="Codec Pro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6303740" y="1974846"/>
            <a:ext cx="4584545" cy="12196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00"/>
              </a:lnSpc>
            </a:pPr>
            <a:r>
              <a:rPr lang="en-US" sz="3357" b="1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Plateforme Évolutive :</a:t>
            </a:r>
          </a:p>
          <a:p>
            <a:pPr algn="ctr">
              <a:lnSpc>
                <a:spcPts val="4700"/>
              </a:lnSpc>
            </a:pPr>
            <a:endParaRPr lang="en-US" sz="3357" b="1">
              <a:solidFill>
                <a:srgbClr val="000000"/>
              </a:solidFill>
              <a:latin typeface="Codec Pro Bold"/>
              <a:ea typeface="Codec Pro Bold"/>
              <a:cs typeface="Codec Pro Bold"/>
              <a:sym typeface="Codec Pro Bold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6303740" y="2532279"/>
            <a:ext cx="4584545" cy="42301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39065" lvl="1" indent="-319532" algn="just">
              <a:lnSpc>
                <a:spcPts val="4144"/>
              </a:lnSpc>
              <a:buFont typeface="Arial"/>
              <a:buChar char="•"/>
            </a:pPr>
            <a:r>
              <a:rPr lang="en-US" sz="2960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Backend modulaire (FastAPI)</a:t>
            </a:r>
          </a:p>
          <a:p>
            <a:pPr marL="639065" lvl="1" indent="-319532" algn="just">
              <a:lnSpc>
                <a:spcPts val="4144"/>
              </a:lnSpc>
              <a:buFont typeface="Arial"/>
              <a:buChar char="•"/>
            </a:pPr>
            <a:r>
              <a:rPr lang="en-US" sz="2960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Frontend réactif (Next.js)</a:t>
            </a:r>
          </a:p>
          <a:p>
            <a:pPr marL="639065" lvl="1" indent="-319532" algn="just">
              <a:lnSpc>
                <a:spcPts val="4144"/>
              </a:lnSpc>
              <a:buFont typeface="Arial"/>
              <a:buChar char="•"/>
            </a:pPr>
            <a:r>
              <a:rPr lang="en-US" sz="2960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Pipeline MLOps pour l'amélioration continue</a:t>
            </a:r>
          </a:p>
          <a:p>
            <a:pPr algn="just">
              <a:lnSpc>
                <a:spcPts val="4144"/>
              </a:lnSpc>
            </a:pPr>
            <a:endParaRPr lang="en-US" sz="2960">
              <a:solidFill>
                <a:srgbClr val="000000"/>
              </a:solidFill>
              <a:latin typeface="Codec Pro"/>
              <a:ea typeface="Codec Pro"/>
              <a:cs typeface="Codec Pro"/>
              <a:sym typeface="Codec Pro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2288459" y="1974846"/>
            <a:ext cx="5997241" cy="18101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00"/>
              </a:lnSpc>
            </a:pPr>
            <a:r>
              <a:rPr lang="en-US" sz="3357" b="1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Gouvernance des Données :</a:t>
            </a:r>
          </a:p>
          <a:p>
            <a:pPr algn="ctr">
              <a:lnSpc>
                <a:spcPts val="4700"/>
              </a:lnSpc>
            </a:pPr>
            <a:endParaRPr lang="en-US" sz="3357" b="1">
              <a:solidFill>
                <a:srgbClr val="000000"/>
              </a:solidFill>
              <a:latin typeface="Codec Pro Bold"/>
              <a:ea typeface="Codec Pro Bold"/>
              <a:cs typeface="Codec Pro Bold"/>
              <a:sym typeface="Codec Pro Bold"/>
            </a:endParaRPr>
          </a:p>
          <a:p>
            <a:pPr algn="ctr">
              <a:lnSpc>
                <a:spcPts val="4700"/>
              </a:lnSpc>
            </a:pPr>
            <a:endParaRPr lang="en-US" sz="3357" b="1">
              <a:solidFill>
                <a:srgbClr val="000000"/>
              </a:solidFill>
              <a:latin typeface="Codec Pro Bold"/>
              <a:ea typeface="Codec Pro Bold"/>
              <a:cs typeface="Codec Pro Bold"/>
              <a:sym typeface="Codec Pro Bold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2997107" y="2532279"/>
            <a:ext cx="4584545" cy="58017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39065" lvl="1" indent="-319532" algn="just">
              <a:lnSpc>
                <a:spcPts val="4144"/>
              </a:lnSpc>
              <a:buFont typeface="Arial"/>
              <a:buChar char="•"/>
            </a:pPr>
            <a:r>
              <a:rPr lang="en-US" sz="2960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85% de questions résolues sans intervention humaine</a:t>
            </a:r>
          </a:p>
          <a:p>
            <a:pPr marL="639065" lvl="1" indent="-319532" algn="just">
              <a:lnSpc>
                <a:spcPts val="4144"/>
              </a:lnSpc>
              <a:buFont typeface="Arial"/>
              <a:buChar char="•"/>
            </a:pPr>
            <a:r>
              <a:rPr lang="en-US" sz="2960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40% de réduction du temps de traitement des requêtes</a:t>
            </a:r>
          </a:p>
          <a:p>
            <a:pPr marL="639065" lvl="1" indent="-319532" algn="just">
              <a:lnSpc>
                <a:spcPts val="4144"/>
              </a:lnSpc>
              <a:buFont typeface="Arial"/>
              <a:buChar char="•"/>
            </a:pPr>
            <a:r>
              <a:rPr lang="en-US" sz="2960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Capacité à absorber +100 nouvelles formulations mensuelles</a:t>
            </a:r>
          </a:p>
          <a:p>
            <a:pPr algn="just">
              <a:lnSpc>
                <a:spcPts val="4144"/>
              </a:lnSpc>
            </a:pPr>
            <a:endParaRPr lang="en-US" sz="2960">
              <a:solidFill>
                <a:srgbClr val="000000"/>
              </a:solidFill>
              <a:latin typeface="Codec Pro"/>
              <a:ea typeface="Codec Pro"/>
              <a:cs typeface="Codec Pro"/>
              <a:sym typeface="Codec Pr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210844" y="0"/>
            <a:ext cx="6077156" cy="10287000"/>
            <a:chOff x="0" y="0"/>
            <a:chExt cx="8102875" cy="13716000"/>
          </a:xfrm>
        </p:grpSpPr>
        <p:pic>
          <p:nvPicPr>
            <p:cNvPr id="3" name="Picture 3"/>
            <p:cNvPicPr>
              <a:picLocks noChangeAspect="1"/>
            </p:cNvPicPr>
            <p:nvPr/>
          </p:nvPicPr>
          <p:blipFill>
            <a:blip r:embed="rId2"/>
            <a:srcRect l="38184" r="38184"/>
            <a:stretch>
              <a:fillRect/>
            </a:stretch>
          </p:blipFill>
          <p:spPr>
            <a:xfrm>
              <a:off x="0" y="0"/>
              <a:ext cx="8102875" cy="13716000"/>
            </a:xfrm>
            <a:prstGeom prst="rect">
              <a:avLst/>
            </a:prstGeom>
          </p:spPr>
        </p:pic>
      </p:grpSp>
      <p:sp>
        <p:nvSpPr>
          <p:cNvPr id="4" name="Freeform 4"/>
          <p:cNvSpPr/>
          <p:nvPr/>
        </p:nvSpPr>
        <p:spPr>
          <a:xfrm>
            <a:off x="569965" y="650381"/>
            <a:ext cx="917470" cy="756638"/>
          </a:xfrm>
          <a:custGeom>
            <a:avLst/>
            <a:gdLst/>
            <a:ahLst/>
            <a:cxnLst/>
            <a:rect l="l" t="t" r="r" b="b"/>
            <a:pathLst>
              <a:path w="917470" h="756638">
                <a:moveTo>
                  <a:pt x="0" y="0"/>
                </a:moveTo>
                <a:lnTo>
                  <a:pt x="917470" y="0"/>
                </a:lnTo>
                <a:lnTo>
                  <a:pt x="917470" y="756638"/>
                </a:lnTo>
                <a:lnTo>
                  <a:pt x="0" y="75663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AutoShape 5"/>
          <p:cNvSpPr/>
          <p:nvPr/>
        </p:nvSpPr>
        <p:spPr>
          <a:xfrm flipH="1">
            <a:off x="1487435" y="9599490"/>
            <a:ext cx="9613604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6" name="Group 6"/>
          <p:cNvGrpSpPr/>
          <p:nvPr/>
        </p:nvGrpSpPr>
        <p:grpSpPr>
          <a:xfrm>
            <a:off x="571772" y="1972636"/>
            <a:ext cx="13641094" cy="2540855"/>
            <a:chOff x="0" y="0"/>
            <a:chExt cx="18188126" cy="3387806"/>
          </a:xfrm>
        </p:grpSpPr>
        <p:sp>
          <p:nvSpPr>
            <p:cNvPr id="7" name="Freeform 7"/>
            <p:cNvSpPr/>
            <p:nvPr/>
          </p:nvSpPr>
          <p:spPr>
            <a:xfrm>
              <a:off x="0" y="1928605"/>
              <a:ext cx="18188126" cy="1459202"/>
            </a:xfrm>
            <a:custGeom>
              <a:avLst/>
              <a:gdLst/>
              <a:ahLst/>
              <a:cxnLst/>
              <a:rect l="l" t="t" r="r" b="b"/>
              <a:pathLst>
                <a:path w="18188126" h="1459202">
                  <a:moveTo>
                    <a:pt x="0" y="0"/>
                  </a:moveTo>
                  <a:lnTo>
                    <a:pt x="18188126" y="0"/>
                  </a:lnTo>
                  <a:lnTo>
                    <a:pt x="18188126" y="1459201"/>
                  </a:lnTo>
                  <a:lnTo>
                    <a:pt x="0" y="14592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alphaModFix amt="26000"/>
              </a:blip>
              <a:stretch>
                <a:fillRect t="-58284" b="-58284"/>
              </a:stretch>
            </a:blipFill>
          </p:spPr>
        </p:sp>
        <p:grpSp>
          <p:nvGrpSpPr>
            <p:cNvPr id="8" name="Group 8"/>
            <p:cNvGrpSpPr/>
            <p:nvPr/>
          </p:nvGrpSpPr>
          <p:grpSpPr>
            <a:xfrm>
              <a:off x="614985" y="0"/>
              <a:ext cx="16958156" cy="2786335"/>
              <a:chOff x="0" y="0"/>
              <a:chExt cx="11334328" cy="1862304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11334328" cy="1862304"/>
              </a:xfrm>
              <a:custGeom>
                <a:avLst/>
                <a:gdLst/>
                <a:ahLst/>
                <a:cxnLst/>
                <a:rect l="l" t="t" r="r" b="b"/>
                <a:pathLst>
                  <a:path w="11334328" h="1862304">
                    <a:moveTo>
                      <a:pt x="27858" y="0"/>
                    </a:moveTo>
                    <a:lnTo>
                      <a:pt x="11306470" y="0"/>
                    </a:lnTo>
                    <a:cubicBezTo>
                      <a:pt x="11313859" y="0"/>
                      <a:pt x="11320945" y="2935"/>
                      <a:pt x="11326169" y="8159"/>
                    </a:cubicBezTo>
                    <a:cubicBezTo>
                      <a:pt x="11331394" y="13384"/>
                      <a:pt x="11334328" y="20470"/>
                      <a:pt x="11334328" y="27858"/>
                    </a:cubicBezTo>
                    <a:lnTo>
                      <a:pt x="11334328" y="1834446"/>
                    </a:lnTo>
                    <a:cubicBezTo>
                      <a:pt x="11334328" y="1849831"/>
                      <a:pt x="11321856" y="1862304"/>
                      <a:pt x="11306470" y="1862304"/>
                    </a:cubicBezTo>
                    <a:lnTo>
                      <a:pt x="27858" y="1862304"/>
                    </a:lnTo>
                    <a:cubicBezTo>
                      <a:pt x="12472" y="1862304"/>
                      <a:pt x="0" y="1849831"/>
                      <a:pt x="0" y="1834446"/>
                    </a:cubicBezTo>
                    <a:lnTo>
                      <a:pt x="0" y="27858"/>
                    </a:lnTo>
                    <a:cubicBezTo>
                      <a:pt x="0" y="12472"/>
                      <a:pt x="12472" y="0"/>
                      <a:pt x="27858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0" y="-47625"/>
                <a:ext cx="11334328" cy="190992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852"/>
                  </a:lnSpc>
                </a:pPr>
                <a:endParaRPr/>
              </a:p>
            </p:txBody>
          </p:sp>
        </p:grpSp>
        <p:grpSp>
          <p:nvGrpSpPr>
            <p:cNvPr id="11" name="Group 11"/>
            <p:cNvGrpSpPr/>
            <p:nvPr/>
          </p:nvGrpSpPr>
          <p:grpSpPr>
            <a:xfrm>
              <a:off x="614985" y="0"/>
              <a:ext cx="7113847" cy="2786335"/>
              <a:chOff x="0" y="0"/>
              <a:chExt cx="1719433" cy="673464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1719433" cy="673464"/>
              </a:xfrm>
              <a:custGeom>
                <a:avLst/>
                <a:gdLst/>
                <a:ahLst/>
                <a:cxnLst/>
                <a:rect l="l" t="t" r="r" b="b"/>
                <a:pathLst>
                  <a:path w="1719433" h="673464">
                    <a:moveTo>
                      <a:pt x="60479" y="0"/>
                    </a:moveTo>
                    <a:lnTo>
                      <a:pt x="1658954" y="0"/>
                    </a:lnTo>
                    <a:cubicBezTo>
                      <a:pt x="1692356" y="0"/>
                      <a:pt x="1719433" y="27078"/>
                      <a:pt x="1719433" y="60479"/>
                    </a:cubicBezTo>
                    <a:lnTo>
                      <a:pt x="1719433" y="612984"/>
                    </a:lnTo>
                    <a:cubicBezTo>
                      <a:pt x="1719433" y="629024"/>
                      <a:pt x="1713062" y="644408"/>
                      <a:pt x="1701719" y="655750"/>
                    </a:cubicBezTo>
                    <a:cubicBezTo>
                      <a:pt x="1690377" y="667092"/>
                      <a:pt x="1674994" y="673464"/>
                      <a:pt x="1658954" y="673464"/>
                    </a:cubicBezTo>
                    <a:lnTo>
                      <a:pt x="60479" y="673464"/>
                    </a:lnTo>
                    <a:cubicBezTo>
                      <a:pt x="27078" y="673464"/>
                      <a:pt x="0" y="646386"/>
                      <a:pt x="0" y="612984"/>
                    </a:cubicBezTo>
                    <a:lnTo>
                      <a:pt x="0" y="60479"/>
                    </a:lnTo>
                    <a:cubicBezTo>
                      <a:pt x="0" y="44439"/>
                      <a:pt x="6372" y="29056"/>
                      <a:pt x="17714" y="17714"/>
                    </a:cubicBezTo>
                    <a:cubicBezTo>
                      <a:pt x="29056" y="6372"/>
                      <a:pt x="44439" y="0"/>
                      <a:pt x="60479" y="0"/>
                    </a:cubicBezTo>
                    <a:close/>
                  </a:path>
                </a:pathLst>
              </a:custGeom>
              <a:solidFill>
                <a:srgbClr val="82C2E6"/>
              </a:solidFill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0" y="-38100"/>
                <a:ext cx="1719433" cy="71156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14" name="Group 14"/>
            <p:cNvGrpSpPr/>
            <p:nvPr/>
          </p:nvGrpSpPr>
          <p:grpSpPr>
            <a:xfrm>
              <a:off x="6549555" y="0"/>
              <a:ext cx="1485683" cy="2786335"/>
              <a:chOff x="0" y="0"/>
              <a:chExt cx="359093" cy="673464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359093" cy="673464"/>
              </a:xfrm>
              <a:custGeom>
                <a:avLst/>
                <a:gdLst/>
                <a:ahLst/>
                <a:cxnLst/>
                <a:rect l="l" t="t" r="r" b="b"/>
                <a:pathLst>
                  <a:path w="359093" h="673464">
                    <a:moveTo>
                      <a:pt x="0" y="0"/>
                    </a:moveTo>
                    <a:lnTo>
                      <a:pt x="359093" y="0"/>
                    </a:lnTo>
                    <a:lnTo>
                      <a:pt x="359093" y="673464"/>
                    </a:lnTo>
                    <a:lnTo>
                      <a:pt x="0" y="673464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0" y="-38100"/>
                <a:ext cx="359093" cy="71156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7" name="Freeform 17"/>
          <p:cNvSpPr/>
          <p:nvPr/>
        </p:nvSpPr>
        <p:spPr>
          <a:xfrm>
            <a:off x="2875472" y="2459540"/>
            <a:ext cx="1208981" cy="1193594"/>
          </a:xfrm>
          <a:custGeom>
            <a:avLst/>
            <a:gdLst/>
            <a:ahLst/>
            <a:cxnLst/>
            <a:rect l="l" t="t" r="r" b="b"/>
            <a:pathLst>
              <a:path w="1208981" h="1193594">
                <a:moveTo>
                  <a:pt x="0" y="0"/>
                </a:moveTo>
                <a:lnTo>
                  <a:pt x="1208981" y="0"/>
                </a:lnTo>
                <a:lnTo>
                  <a:pt x="1208981" y="1193594"/>
                </a:lnTo>
                <a:lnTo>
                  <a:pt x="0" y="119359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18" name="Group 18"/>
          <p:cNvGrpSpPr/>
          <p:nvPr/>
        </p:nvGrpSpPr>
        <p:grpSpPr>
          <a:xfrm>
            <a:off x="571772" y="4346076"/>
            <a:ext cx="13641094" cy="2540855"/>
            <a:chOff x="0" y="0"/>
            <a:chExt cx="18188126" cy="3387806"/>
          </a:xfrm>
        </p:grpSpPr>
        <p:sp>
          <p:nvSpPr>
            <p:cNvPr id="19" name="Freeform 19"/>
            <p:cNvSpPr/>
            <p:nvPr/>
          </p:nvSpPr>
          <p:spPr>
            <a:xfrm>
              <a:off x="0" y="1928605"/>
              <a:ext cx="18188126" cy="1459202"/>
            </a:xfrm>
            <a:custGeom>
              <a:avLst/>
              <a:gdLst/>
              <a:ahLst/>
              <a:cxnLst/>
              <a:rect l="l" t="t" r="r" b="b"/>
              <a:pathLst>
                <a:path w="18188126" h="1459202">
                  <a:moveTo>
                    <a:pt x="0" y="0"/>
                  </a:moveTo>
                  <a:lnTo>
                    <a:pt x="18188126" y="0"/>
                  </a:lnTo>
                  <a:lnTo>
                    <a:pt x="18188126" y="1459201"/>
                  </a:lnTo>
                  <a:lnTo>
                    <a:pt x="0" y="14592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alphaModFix amt="26000"/>
              </a:blip>
              <a:stretch>
                <a:fillRect t="-58284" b="-58284"/>
              </a:stretch>
            </a:blipFill>
          </p:spPr>
        </p:sp>
        <p:grpSp>
          <p:nvGrpSpPr>
            <p:cNvPr id="20" name="Group 20"/>
            <p:cNvGrpSpPr/>
            <p:nvPr/>
          </p:nvGrpSpPr>
          <p:grpSpPr>
            <a:xfrm>
              <a:off x="614985" y="0"/>
              <a:ext cx="16958156" cy="2786335"/>
              <a:chOff x="0" y="0"/>
              <a:chExt cx="11334328" cy="1862304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0" y="0"/>
                <a:ext cx="11334328" cy="1862304"/>
              </a:xfrm>
              <a:custGeom>
                <a:avLst/>
                <a:gdLst/>
                <a:ahLst/>
                <a:cxnLst/>
                <a:rect l="l" t="t" r="r" b="b"/>
                <a:pathLst>
                  <a:path w="11334328" h="1862304">
                    <a:moveTo>
                      <a:pt x="27858" y="0"/>
                    </a:moveTo>
                    <a:lnTo>
                      <a:pt x="11306470" y="0"/>
                    </a:lnTo>
                    <a:cubicBezTo>
                      <a:pt x="11313859" y="0"/>
                      <a:pt x="11320945" y="2935"/>
                      <a:pt x="11326169" y="8159"/>
                    </a:cubicBezTo>
                    <a:cubicBezTo>
                      <a:pt x="11331394" y="13384"/>
                      <a:pt x="11334328" y="20470"/>
                      <a:pt x="11334328" y="27858"/>
                    </a:cubicBezTo>
                    <a:lnTo>
                      <a:pt x="11334328" y="1834446"/>
                    </a:lnTo>
                    <a:cubicBezTo>
                      <a:pt x="11334328" y="1849831"/>
                      <a:pt x="11321856" y="1862304"/>
                      <a:pt x="11306470" y="1862304"/>
                    </a:cubicBezTo>
                    <a:lnTo>
                      <a:pt x="27858" y="1862304"/>
                    </a:lnTo>
                    <a:cubicBezTo>
                      <a:pt x="12472" y="1862304"/>
                      <a:pt x="0" y="1849831"/>
                      <a:pt x="0" y="1834446"/>
                    </a:cubicBezTo>
                    <a:lnTo>
                      <a:pt x="0" y="27858"/>
                    </a:lnTo>
                    <a:cubicBezTo>
                      <a:pt x="0" y="12472"/>
                      <a:pt x="12472" y="0"/>
                      <a:pt x="27858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0" y="-47625"/>
                <a:ext cx="11334328" cy="190992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852"/>
                  </a:lnSpc>
                </a:pPr>
                <a:endParaRPr/>
              </a:p>
            </p:txBody>
          </p:sp>
        </p:grpSp>
        <p:grpSp>
          <p:nvGrpSpPr>
            <p:cNvPr id="23" name="Group 23"/>
            <p:cNvGrpSpPr/>
            <p:nvPr/>
          </p:nvGrpSpPr>
          <p:grpSpPr>
            <a:xfrm>
              <a:off x="614985" y="0"/>
              <a:ext cx="7113847" cy="2786335"/>
              <a:chOff x="0" y="0"/>
              <a:chExt cx="1719433" cy="673464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0" y="0"/>
                <a:ext cx="1719433" cy="673464"/>
              </a:xfrm>
              <a:custGeom>
                <a:avLst/>
                <a:gdLst/>
                <a:ahLst/>
                <a:cxnLst/>
                <a:rect l="l" t="t" r="r" b="b"/>
                <a:pathLst>
                  <a:path w="1719433" h="673464">
                    <a:moveTo>
                      <a:pt x="60479" y="0"/>
                    </a:moveTo>
                    <a:lnTo>
                      <a:pt x="1658954" y="0"/>
                    </a:lnTo>
                    <a:cubicBezTo>
                      <a:pt x="1692356" y="0"/>
                      <a:pt x="1719433" y="27078"/>
                      <a:pt x="1719433" y="60479"/>
                    </a:cubicBezTo>
                    <a:lnTo>
                      <a:pt x="1719433" y="612984"/>
                    </a:lnTo>
                    <a:cubicBezTo>
                      <a:pt x="1719433" y="629024"/>
                      <a:pt x="1713062" y="644408"/>
                      <a:pt x="1701719" y="655750"/>
                    </a:cubicBezTo>
                    <a:cubicBezTo>
                      <a:pt x="1690377" y="667092"/>
                      <a:pt x="1674994" y="673464"/>
                      <a:pt x="1658954" y="673464"/>
                    </a:cubicBezTo>
                    <a:lnTo>
                      <a:pt x="60479" y="673464"/>
                    </a:lnTo>
                    <a:cubicBezTo>
                      <a:pt x="27078" y="673464"/>
                      <a:pt x="0" y="646386"/>
                      <a:pt x="0" y="612984"/>
                    </a:cubicBezTo>
                    <a:lnTo>
                      <a:pt x="0" y="60479"/>
                    </a:lnTo>
                    <a:cubicBezTo>
                      <a:pt x="0" y="44439"/>
                      <a:pt x="6372" y="29056"/>
                      <a:pt x="17714" y="17714"/>
                    </a:cubicBezTo>
                    <a:cubicBezTo>
                      <a:pt x="29056" y="6372"/>
                      <a:pt x="44439" y="0"/>
                      <a:pt x="60479" y="0"/>
                    </a:cubicBezTo>
                    <a:close/>
                  </a:path>
                </a:pathLst>
              </a:custGeom>
              <a:solidFill>
                <a:srgbClr val="82C2E6"/>
              </a:solidFill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0" y="-38100"/>
                <a:ext cx="1719433" cy="71156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26" name="Group 26"/>
            <p:cNvGrpSpPr/>
            <p:nvPr/>
          </p:nvGrpSpPr>
          <p:grpSpPr>
            <a:xfrm>
              <a:off x="6549555" y="0"/>
              <a:ext cx="1485683" cy="2786335"/>
              <a:chOff x="0" y="0"/>
              <a:chExt cx="359093" cy="673464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0" y="0"/>
                <a:ext cx="359093" cy="673464"/>
              </a:xfrm>
              <a:custGeom>
                <a:avLst/>
                <a:gdLst/>
                <a:ahLst/>
                <a:cxnLst/>
                <a:rect l="l" t="t" r="r" b="b"/>
                <a:pathLst>
                  <a:path w="359093" h="673464">
                    <a:moveTo>
                      <a:pt x="0" y="0"/>
                    </a:moveTo>
                    <a:lnTo>
                      <a:pt x="359093" y="0"/>
                    </a:lnTo>
                    <a:lnTo>
                      <a:pt x="359093" y="673464"/>
                    </a:lnTo>
                    <a:lnTo>
                      <a:pt x="0" y="673464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0" y="-38100"/>
                <a:ext cx="359093" cy="71156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29" name="Freeform 29"/>
          <p:cNvSpPr/>
          <p:nvPr/>
        </p:nvSpPr>
        <p:spPr>
          <a:xfrm>
            <a:off x="2969925" y="4899342"/>
            <a:ext cx="1020075" cy="1166406"/>
          </a:xfrm>
          <a:custGeom>
            <a:avLst/>
            <a:gdLst/>
            <a:ahLst/>
            <a:cxnLst/>
            <a:rect l="l" t="t" r="r" b="b"/>
            <a:pathLst>
              <a:path w="1020075" h="1166406">
                <a:moveTo>
                  <a:pt x="0" y="0"/>
                </a:moveTo>
                <a:lnTo>
                  <a:pt x="1020076" y="0"/>
                </a:lnTo>
                <a:lnTo>
                  <a:pt x="1020076" y="1166407"/>
                </a:lnTo>
                <a:lnTo>
                  <a:pt x="0" y="116640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grpSp>
        <p:nvGrpSpPr>
          <p:cNvPr id="30" name="Group 30"/>
          <p:cNvGrpSpPr/>
          <p:nvPr/>
        </p:nvGrpSpPr>
        <p:grpSpPr>
          <a:xfrm>
            <a:off x="571772" y="6825052"/>
            <a:ext cx="13641094" cy="2540855"/>
            <a:chOff x="0" y="0"/>
            <a:chExt cx="18188126" cy="3387806"/>
          </a:xfrm>
        </p:grpSpPr>
        <p:sp>
          <p:nvSpPr>
            <p:cNvPr id="31" name="Freeform 31"/>
            <p:cNvSpPr/>
            <p:nvPr/>
          </p:nvSpPr>
          <p:spPr>
            <a:xfrm>
              <a:off x="0" y="1928605"/>
              <a:ext cx="18188126" cy="1459202"/>
            </a:xfrm>
            <a:custGeom>
              <a:avLst/>
              <a:gdLst/>
              <a:ahLst/>
              <a:cxnLst/>
              <a:rect l="l" t="t" r="r" b="b"/>
              <a:pathLst>
                <a:path w="18188126" h="1459202">
                  <a:moveTo>
                    <a:pt x="0" y="0"/>
                  </a:moveTo>
                  <a:lnTo>
                    <a:pt x="18188126" y="0"/>
                  </a:lnTo>
                  <a:lnTo>
                    <a:pt x="18188126" y="1459201"/>
                  </a:lnTo>
                  <a:lnTo>
                    <a:pt x="0" y="14592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alphaModFix amt="26000"/>
              </a:blip>
              <a:stretch>
                <a:fillRect t="-58284" b="-58284"/>
              </a:stretch>
            </a:blipFill>
          </p:spPr>
        </p:sp>
        <p:grpSp>
          <p:nvGrpSpPr>
            <p:cNvPr id="32" name="Group 32"/>
            <p:cNvGrpSpPr/>
            <p:nvPr/>
          </p:nvGrpSpPr>
          <p:grpSpPr>
            <a:xfrm>
              <a:off x="614985" y="0"/>
              <a:ext cx="16958156" cy="2786335"/>
              <a:chOff x="0" y="0"/>
              <a:chExt cx="11334328" cy="1862304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0" y="0"/>
                <a:ext cx="11334328" cy="1862304"/>
              </a:xfrm>
              <a:custGeom>
                <a:avLst/>
                <a:gdLst/>
                <a:ahLst/>
                <a:cxnLst/>
                <a:rect l="l" t="t" r="r" b="b"/>
                <a:pathLst>
                  <a:path w="11334328" h="1862304">
                    <a:moveTo>
                      <a:pt x="27858" y="0"/>
                    </a:moveTo>
                    <a:lnTo>
                      <a:pt x="11306470" y="0"/>
                    </a:lnTo>
                    <a:cubicBezTo>
                      <a:pt x="11313859" y="0"/>
                      <a:pt x="11320945" y="2935"/>
                      <a:pt x="11326169" y="8159"/>
                    </a:cubicBezTo>
                    <a:cubicBezTo>
                      <a:pt x="11331394" y="13384"/>
                      <a:pt x="11334328" y="20470"/>
                      <a:pt x="11334328" y="27858"/>
                    </a:cubicBezTo>
                    <a:lnTo>
                      <a:pt x="11334328" y="1834446"/>
                    </a:lnTo>
                    <a:cubicBezTo>
                      <a:pt x="11334328" y="1849831"/>
                      <a:pt x="11321856" y="1862304"/>
                      <a:pt x="11306470" y="1862304"/>
                    </a:cubicBezTo>
                    <a:lnTo>
                      <a:pt x="27858" y="1862304"/>
                    </a:lnTo>
                    <a:cubicBezTo>
                      <a:pt x="12472" y="1862304"/>
                      <a:pt x="0" y="1849831"/>
                      <a:pt x="0" y="1834446"/>
                    </a:cubicBezTo>
                    <a:lnTo>
                      <a:pt x="0" y="27858"/>
                    </a:lnTo>
                    <a:cubicBezTo>
                      <a:pt x="0" y="12472"/>
                      <a:pt x="12472" y="0"/>
                      <a:pt x="27858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34" name="TextBox 34"/>
              <p:cNvSpPr txBox="1"/>
              <p:nvPr/>
            </p:nvSpPr>
            <p:spPr>
              <a:xfrm>
                <a:off x="0" y="-47625"/>
                <a:ext cx="11334328" cy="190992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852"/>
                  </a:lnSpc>
                </a:pPr>
                <a:endParaRPr/>
              </a:p>
            </p:txBody>
          </p:sp>
        </p:grpSp>
        <p:grpSp>
          <p:nvGrpSpPr>
            <p:cNvPr id="35" name="Group 35"/>
            <p:cNvGrpSpPr/>
            <p:nvPr/>
          </p:nvGrpSpPr>
          <p:grpSpPr>
            <a:xfrm>
              <a:off x="614985" y="0"/>
              <a:ext cx="7113847" cy="2786335"/>
              <a:chOff x="0" y="0"/>
              <a:chExt cx="1719433" cy="673464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0" y="0"/>
                <a:ext cx="1719433" cy="673464"/>
              </a:xfrm>
              <a:custGeom>
                <a:avLst/>
                <a:gdLst/>
                <a:ahLst/>
                <a:cxnLst/>
                <a:rect l="l" t="t" r="r" b="b"/>
                <a:pathLst>
                  <a:path w="1719433" h="673464">
                    <a:moveTo>
                      <a:pt x="60479" y="0"/>
                    </a:moveTo>
                    <a:lnTo>
                      <a:pt x="1658954" y="0"/>
                    </a:lnTo>
                    <a:cubicBezTo>
                      <a:pt x="1692356" y="0"/>
                      <a:pt x="1719433" y="27078"/>
                      <a:pt x="1719433" y="60479"/>
                    </a:cubicBezTo>
                    <a:lnTo>
                      <a:pt x="1719433" y="612984"/>
                    </a:lnTo>
                    <a:cubicBezTo>
                      <a:pt x="1719433" y="629024"/>
                      <a:pt x="1713062" y="644408"/>
                      <a:pt x="1701719" y="655750"/>
                    </a:cubicBezTo>
                    <a:cubicBezTo>
                      <a:pt x="1690377" y="667092"/>
                      <a:pt x="1674994" y="673464"/>
                      <a:pt x="1658954" y="673464"/>
                    </a:cubicBezTo>
                    <a:lnTo>
                      <a:pt x="60479" y="673464"/>
                    </a:lnTo>
                    <a:cubicBezTo>
                      <a:pt x="27078" y="673464"/>
                      <a:pt x="0" y="646386"/>
                      <a:pt x="0" y="612984"/>
                    </a:cubicBezTo>
                    <a:lnTo>
                      <a:pt x="0" y="60479"/>
                    </a:lnTo>
                    <a:cubicBezTo>
                      <a:pt x="0" y="44439"/>
                      <a:pt x="6372" y="29056"/>
                      <a:pt x="17714" y="17714"/>
                    </a:cubicBezTo>
                    <a:cubicBezTo>
                      <a:pt x="29056" y="6372"/>
                      <a:pt x="44439" y="0"/>
                      <a:pt x="60479" y="0"/>
                    </a:cubicBezTo>
                    <a:close/>
                  </a:path>
                </a:pathLst>
              </a:custGeom>
              <a:solidFill>
                <a:srgbClr val="82C2E6"/>
              </a:solidFill>
            </p:spPr>
          </p:sp>
          <p:sp>
            <p:nvSpPr>
              <p:cNvPr id="37" name="TextBox 37"/>
              <p:cNvSpPr txBox="1"/>
              <p:nvPr/>
            </p:nvSpPr>
            <p:spPr>
              <a:xfrm>
                <a:off x="0" y="-38100"/>
                <a:ext cx="1719433" cy="71156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38" name="Group 38"/>
            <p:cNvGrpSpPr/>
            <p:nvPr/>
          </p:nvGrpSpPr>
          <p:grpSpPr>
            <a:xfrm>
              <a:off x="6549555" y="0"/>
              <a:ext cx="1485683" cy="2786335"/>
              <a:chOff x="0" y="0"/>
              <a:chExt cx="359093" cy="673464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0" y="0"/>
                <a:ext cx="359093" cy="673464"/>
              </a:xfrm>
              <a:custGeom>
                <a:avLst/>
                <a:gdLst/>
                <a:ahLst/>
                <a:cxnLst/>
                <a:rect l="l" t="t" r="r" b="b"/>
                <a:pathLst>
                  <a:path w="359093" h="673464">
                    <a:moveTo>
                      <a:pt x="0" y="0"/>
                    </a:moveTo>
                    <a:lnTo>
                      <a:pt x="359093" y="0"/>
                    </a:lnTo>
                    <a:lnTo>
                      <a:pt x="359093" y="673464"/>
                    </a:lnTo>
                    <a:lnTo>
                      <a:pt x="0" y="673464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40" name="TextBox 40"/>
              <p:cNvSpPr txBox="1"/>
              <p:nvPr/>
            </p:nvSpPr>
            <p:spPr>
              <a:xfrm>
                <a:off x="0" y="-38100"/>
                <a:ext cx="359093" cy="71156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41" name="Freeform 41"/>
          <p:cNvSpPr/>
          <p:nvPr/>
        </p:nvSpPr>
        <p:spPr>
          <a:xfrm>
            <a:off x="2969925" y="7306031"/>
            <a:ext cx="993049" cy="1077272"/>
          </a:xfrm>
          <a:custGeom>
            <a:avLst/>
            <a:gdLst/>
            <a:ahLst/>
            <a:cxnLst/>
            <a:rect l="l" t="t" r="r" b="b"/>
            <a:pathLst>
              <a:path w="993049" h="1077272">
                <a:moveTo>
                  <a:pt x="0" y="0"/>
                </a:moveTo>
                <a:lnTo>
                  <a:pt x="993049" y="0"/>
                </a:lnTo>
                <a:lnTo>
                  <a:pt x="993049" y="1077272"/>
                </a:lnTo>
                <a:lnTo>
                  <a:pt x="0" y="107727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42" name="TextBox 42"/>
          <p:cNvSpPr txBox="1"/>
          <p:nvPr/>
        </p:nvSpPr>
        <p:spPr>
          <a:xfrm>
            <a:off x="2072485" y="466177"/>
            <a:ext cx="10139262" cy="10869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517"/>
              </a:lnSpc>
            </a:pPr>
            <a:r>
              <a:rPr lang="en-US" sz="6896" b="1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Architecture Globale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217844" y="9242082"/>
            <a:ext cx="1269591" cy="6290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00"/>
              </a:lnSpc>
            </a:pPr>
            <a:r>
              <a:rPr lang="en-US" sz="3357" b="1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04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5695345" y="1858336"/>
            <a:ext cx="7396176" cy="22817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36"/>
              </a:lnSpc>
            </a:pPr>
            <a:r>
              <a:rPr lang="en-US" sz="3169">
                <a:solidFill>
                  <a:srgbClr val="82C2E6"/>
                </a:solidFill>
                <a:latin typeface="Codec Pro"/>
                <a:ea typeface="Codec Pro"/>
                <a:cs typeface="Codec Pro"/>
                <a:sym typeface="Codec Pro"/>
              </a:rPr>
              <a:t>Frontend (Next.js) :</a:t>
            </a:r>
            <a:r>
              <a:rPr lang="en-US" sz="3169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 L'interface utilisateur à travers laquelle les utilisateurs interagissent avec le chatbot.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5695345" y="4284544"/>
            <a:ext cx="7328075" cy="22817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36"/>
              </a:lnSpc>
            </a:pPr>
            <a:r>
              <a:rPr lang="en-US" sz="3169" b="1">
                <a:solidFill>
                  <a:srgbClr val="82C2E6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Backend (Flask/FastAPI)</a:t>
            </a:r>
            <a:r>
              <a:rPr lang="en-US" sz="3169">
                <a:solidFill>
                  <a:srgbClr val="82C2E6"/>
                </a:solidFill>
                <a:latin typeface="Codec Pro"/>
                <a:ea typeface="Codec Pro"/>
                <a:cs typeface="Codec Pro"/>
                <a:sym typeface="Codec Pro"/>
              </a:rPr>
              <a:t> :</a:t>
            </a:r>
            <a:r>
              <a:rPr lang="en-US" sz="3169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 Le serveur qui gère la logique du chatbot, les API pour exécuter les tâches et interagir avec la base de données.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5695345" y="6772631"/>
            <a:ext cx="7563067" cy="22817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36"/>
              </a:lnSpc>
            </a:pPr>
            <a:r>
              <a:rPr lang="en-US" sz="3169" b="1">
                <a:solidFill>
                  <a:srgbClr val="82C2E6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Base de données (PostgreSQL)</a:t>
            </a:r>
            <a:r>
              <a:rPr lang="en-US" sz="3169">
                <a:solidFill>
                  <a:srgbClr val="82C2E6"/>
                </a:solidFill>
                <a:latin typeface="Codec Pro"/>
                <a:ea typeface="Codec Pro"/>
                <a:cs typeface="Codec Pro"/>
                <a:sym typeface="Codec Pro"/>
              </a:rPr>
              <a:t> :</a:t>
            </a:r>
            <a:r>
              <a:rPr lang="en-US" sz="3169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 La base de données pour stocker les utilisateurs, les tâches, les instructions, etc.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69965" y="650381"/>
            <a:ext cx="917470" cy="756638"/>
          </a:xfrm>
          <a:custGeom>
            <a:avLst/>
            <a:gdLst/>
            <a:ahLst/>
            <a:cxnLst/>
            <a:rect l="l" t="t" r="r" b="b"/>
            <a:pathLst>
              <a:path w="917470" h="756638">
                <a:moveTo>
                  <a:pt x="0" y="0"/>
                </a:moveTo>
                <a:lnTo>
                  <a:pt x="917470" y="0"/>
                </a:lnTo>
                <a:lnTo>
                  <a:pt x="917470" y="756638"/>
                </a:lnTo>
                <a:lnTo>
                  <a:pt x="0" y="7566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AutoShape 3"/>
          <p:cNvSpPr/>
          <p:nvPr/>
        </p:nvSpPr>
        <p:spPr>
          <a:xfrm flipH="1">
            <a:off x="1487435" y="9599490"/>
            <a:ext cx="9613604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Freeform 4"/>
          <p:cNvSpPr/>
          <p:nvPr/>
        </p:nvSpPr>
        <p:spPr>
          <a:xfrm>
            <a:off x="9144000" y="0"/>
            <a:ext cx="9144000" cy="10287000"/>
          </a:xfrm>
          <a:custGeom>
            <a:avLst/>
            <a:gdLst/>
            <a:ahLst/>
            <a:cxnLst/>
            <a:rect l="l" t="t" r="r" b="b"/>
            <a:pathLst>
              <a:path w="9144000" h="10287000">
                <a:moveTo>
                  <a:pt x="0" y="0"/>
                </a:moveTo>
                <a:lnTo>
                  <a:pt x="9144000" y="0"/>
                </a:lnTo>
                <a:lnTo>
                  <a:pt x="9144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1000" r="-3843" b="-1000"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731206" y="466177"/>
            <a:ext cx="5425185" cy="29919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517"/>
              </a:lnSpc>
            </a:pPr>
            <a:r>
              <a:rPr lang="en-US" sz="6896" b="1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Diagramme de classes (UML) :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17844" y="9242082"/>
            <a:ext cx="1269591" cy="6290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00"/>
              </a:lnSpc>
            </a:pPr>
            <a:r>
              <a:rPr lang="en-US" sz="3357" b="1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05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69965" y="650381"/>
            <a:ext cx="917470" cy="756638"/>
          </a:xfrm>
          <a:custGeom>
            <a:avLst/>
            <a:gdLst/>
            <a:ahLst/>
            <a:cxnLst/>
            <a:rect l="l" t="t" r="r" b="b"/>
            <a:pathLst>
              <a:path w="917470" h="756638">
                <a:moveTo>
                  <a:pt x="0" y="0"/>
                </a:moveTo>
                <a:lnTo>
                  <a:pt x="917470" y="0"/>
                </a:lnTo>
                <a:lnTo>
                  <a:pt x="917470" y="756638"/>
                </a:lnTo>
                <a:lnTo>
                  <a:pt x="0" y="7566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AutoShape 3"/>
          <p:cNvSpPr/>
          <p:nvPr/>
        </p:nvSpPr>
        <p:spPr>
          <a:xfrm flipH="1">
            <a:off x="1487435" y="9599490"/>
            <a:ext cx="9613604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Freeform 4"/>
          <p:cNvSpPr/>
          <p:nvPr/>
        </p:nvSpPr>
        <p:spPr>
          <a:xfrm>
            <a:off x="4719132" y="1407019"/>
            <a:ext cx="13568868" cy="8136262"/>
          </a:xfrm>
          <a:custGeom>
            <a:avLst/>
            <a:gdLst/>
            <a:ahLst/>
            <a:cxnLst/>
            <a:rect l="l" t="t" r="r" b="b"/>
            <a:pathLst>
              <a:path w="13568868" h="8136262">
                <a:moveTo>
                  <a:pt x="0" y="0"/>
                </a:moveTo>
                <a:lnTo>
                  <a:pt x="13568868" y="0"/>
                </a:lnTo>
                <a:lnTo>
                  <a:pt x="13568868" y="8136262"/>
                </a:lnTo>
                <a:lnTo>
                  <a:pt x="0" y="813626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2271" b="-2271"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731206" y="466177"/>
            <a:ext cx="17028011" cy="10869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517"/>
              </a:lnSpc>
            </a:pPr>
            <a:r>
              <a:rPr lang="en-US" sz="6896" b="1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Diagramme de séquence (UML)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17844" y="9242082"/>
            <a:ext cx="1269591" cy="6290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00"/>
              </a:lnSpc>
            </a:pPr>
            <a:r>
              <a:rPr lang="en-US" sz="3357" b="1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06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69965" y="650381"/>
            <a:ext cx="917470" cy="756638"/>
          </a:xfrm>
          <a:custGeom>
            <a:avLst/>
            <a:gdLst/>
            <a:ahLst/>
            <a:cxnLst/>
            <a:rect l="l" t="t" r="r" b="b"/>
            <a:pathLst>
              <a:path w="917470" h="756638">
                <a:moveTo>
                  <a:pt x="0" y="0"/>
                </a:moveTo>
                <a:lnTo>
                  <a:pt x="917470" y="0"/>
                </a:lnTo>
                <a:lnTo>
                  <a:pt x="917470" y="756638"/>
                </a:lnTo>
                <a:lnTo>
                  <a:pt x="0" y="7566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AutoShape 3"/>
          <p:cNvSpPr/>
          <p:nvPr/>
        </p:nvSpPr>
        <p:spPr>
          <a:xfrm flipH="1">
            <a:off x="1487435" y="9599490"/>
            <a:ext cx="9613604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Freeform 4"/>
          <p:cNvSpPr/>
          <p:nvPr/>
        </p:nvSpPr>
        <p:spPr>
          <a:xfrm>
            <a:off x="4960375" y="1553123"/>
            <a:ext cx="13327625" cy="7812783"/>
          </a:xfrm>
          <a:custGeom>
            <a:avLst/>
            <a:gdLst/>
            <a:ahLst/>
            <a:cxnLst/>
            <a:rect l="l" t="t" r="r" b="b"/>
            <a:pathLst>
              <a:path w="13327625" h="7812783">
                <a:moveTo>
                  <a:pt x="0" y="0"/>
                </a:moveTo>
                <a:lnTo>
                  <a:pt x="13327625" y="0"/>
                </a:lnTo>
                <a:lnTo>
                  <a:pt x="13327625" y="7812784"/>
                </a:lnTo>
                <a:lnTo>
                  <a:pt x="0" y="78127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3069"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731206" y="466177"/>
            <a:ext cx="17028011" cy="10869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517"/>
              </a:lnSpc>
            </a:pPr>
            <a:r>
              <a:rPr lang="en-US" sz="6896" b="1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Schéma d'appel typique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17844" y="9242082"/>
            <a:ext cx="1269591" cy="6290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00"/>
              </a:lnSpc>
            </a:pPr>
            <a:r>
              <a:rPr lang="en-US" sz="3357" b="1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07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459015" y="1237619"/>
            <a:ext cx="11392882" cy="8128288"/>
            <a:chOff x="0" y="0"/>
            <a:chExt cx="15190509" cy="10837717"/>
          </a:xfrm>
        </p:grpSpPr>
        <p:pic>
          <p:nvPicPr>
            <p:cNvPr id="3" name="Picture 3"/>
            <p:cNvPicPr>
              <a:picLocks noChangeAspect="1"/>
            </p:cNvPicPr>
            <p:nvPr/>
          </p:nvPicPr>
          <p:blipFill>
            <a:blip r:embed="rId2"/>
            <a:srcRect t="1049" b="1049"/>
            <a:stretch>
              <a:fillRect/>
            </a:stretch>
          </p:blipFill>
          <p:spPr>
            <a:xfrm>
              <a:off x="0" y="0"/>
              <a:ext cx="15190509" cy="10837717"/>
            </a:xfrm>
            <a:prstGeom prst="rect">
              <a:avLst/>
            </a:prstGeom>
          </p:spPr>
        </p:pic>
      </p:grpSp>
      <p:sp>
        <p:nvSpPr>
          <p:cNvPr id="4" name="Freeform 4"/>
          <p:cNvSpPr/>
          <p:nvPr/>
        </p:nvSpPr>
        <p:spPr>
          <a:xfrm>
            <a:off x="569965" y="650381"/>
            <a:ext cx="917470" cy="756638"/>
          </a:xfrm>
          <a:custGeom>
            <a:avLst/>
            <a:gdLst/>
            <a:ahLst/>
            <a:cxnLst/>
            <a:rect l="l" t="t" r="r" b="b"/>
            <a:pathLst>
              <a:path w="917470" h="756638">
                <a:moveTo>
                  <a:pt x="0" y="0"/>
                </a:moveTo>
                <a:lnTo>
                  <a:pt x="917470" y="0"/>
                </a:lnTo>
                <a:lnTo>
                  <a:pt x="917470" y="756638"/>
                </a:lnTo>
                <a:lnTo>
                  <a:pt x="0" y="75663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AutoShape 5"/>
          <p:cNvSpPr/>
          <p:nvPr/>
        </p:nvSpPr>
        <p:spPr>
          <a:xfrm flipH="1">
            <a:off x="1487435" y="9599490"/>
            <a:ext cx="5854765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TextBox 6"/>
          <p:cNvSpPr txBox="1"/>
          <p:nvPr/>
        </p:nvSpPr>
        <p:spPr>
          <a:xfrm>
            <a:off x="1749097" y="466177"/>
            <a:ext cx="6946177" cy="10869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517"/>
              </a:lnSpc>
            </a:pPr>
            <a:r>
              <a:rPr lang="en-US" sz="6896" b="1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Démonstration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17844" y="9242082"/>
            <a:ext cx="1269591" cy="6290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00"/>
              </a:lnSpc>
            </a:pPr>
            <a:r>
              <a:rPr lang="en-US" sz="3357" b="1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08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52639" y="1745438"/>
            <a:ext cx="5203627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9" lvl="1" indent="-367030" algn="ctr">
              <a:lnSpc>
                <a:spcPts val="4759"/>
              </a:lnSpc>
              <a:buAutoNum type="arabicPeriod"/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Test d’authentification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399698" y="2437747"/>
            <a:ext cx="11886610" cy="7035537"/>
            <a:chOff x="0" y="0"/>
            <a:chExt cx="15848813" cy="9380716"/>
          </a:xfrm>
        </p:grpSpPr>
        <p:pic>
          <p:nvPicPr>
            <p:cNvPr id="3" name="Picture 3"/>
            <p:cNvPicPr>
              <a:picLocks noChangeAspect="1"/>
            </p:cNvPicPr>
            <p:nvPr/>
          </p:nvPicPr>
          <p:blipFill>
            <a:blip r:embed="rId2"/>
            <a:srcRect t="7797" b="7797"/>
            <a:stretch>
              <a:fillRect/>
            </a:stretch>
          </p:blipFill>
          <p:spPr>
            <a:xfrm>
              <a:off x="0" y="0"/>
              <a:ext cx="15848813" cy="9380716"/>
            </a:xfrm>
            <a:prstGeom prst="rect">
              <a:avLst/>
            </a:prstGeom>
          </p:spPr>
        </p:pic>
      </p:grpSp>
      <p:sp>
        <p:nvSpPr>
          <p:cNvPr id="4" name="Freeform 4"/>
          <p:cNvSpPr/>
          <p:nvPr/>
        </p:nvSpPr>
        <p:spPr>
          <a:xfrm>
            <a:off x="569965" y="650381"/>
            <a:ext cx="917470" cy="756638"/>
          </a:xfrm>
          <a:custGeom>
            <a:avLst/>
            <a:gdLst/>
            <a:ahLst/>
            <a:cxnLst/>
            <a:rect l="l" t="t" r="r" b="b"/>
            <a:pathLst>
              <a:path w="917470" h="756638">
                <a:moveTo>
                  <a:pt x="0" y="0"/>
                </a:moveTo>
                <a:lnTo>
                  <a:pt x="917470" y="0"/>
                </a:lnTo>
                <a:lnTo>
                  <a:pt x="917470" y="756638"/>
                </a:lnTo>
                <a:lnTo>
                  <a:pt x="0" y="75663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AutoShape 5"/>
          <p:cNvSpPr/>
          <p:nvPr/>
        </p:nvSpPr>
        <p:spPr>
          <a:xfrm flipH="1">
            <a:off x="1487435" y="9599490"/>
            <a:ext cx="5854765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TextBox 6"/>
          <p:cNvSpPr txBox="1"/>
          <p:nvPr/>
        </p:nvSpPr>
        <p:spPr>
          <a:xfrm>
            <a:off x="1749097" y="466177"/>
            <a:ext cx="6946177" cy="10869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517"/>
              </a:lnSpc>
            </a:pPr>
            <a:r>
              <a:rPr lang="en-US" sz="6896" b="1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Démonstration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17844" y="9242082"/>
            <a:ext cx="1269591" cy="6290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00"/>
              </a:lnSpc>
            </a:pPr>
            <a:r>
              <a:rPr lang="en-US" sz="3357" b="1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09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0" y="1745438"/>
            <a:ext cx="7519450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9" lvl="1" indent="-367030" algn="ctr">
              <a:lnSpc>
                <a:spcPts val="4759"/>
              </a:lnSpc>
              <a:buAutoNum type="arabicPeriod"/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Test de récupération de données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459015" y="1237619"/>
            <a:ext cx="11392882" cy="8128288"/>
            <a:chOff x="0" y="0"/>
            <a:chExt cx="15190509" cy="10837717"/>
          </a:xfrm>
        </p:grpSpPr>
        <p:pic>
          <p:nvPicPr>
            <p:cNvPr id="3" name="Picture 3"/>
            <p:cNvPicPr>
              <a:picLocks noChangeAspect="1"/>
            </p:cNvPicPr>
            <p:nvPr/>
          </p:nvPicPr>
          <p:blipFill>
            <a:blip r:embed="rId2"/>
            <a:srcRect t="1049" b="1049"/>
            <a:stretch>
              <a:fillRect/>
            </a:stretch>
          </p:blipFill>
          <p:spPr>
            <a:xfrm>
              <a:off x="0" y="0"/>
              <a:ext cx="15190509" cy="10837717"/>
            </a:xfrm>
            <a:prstGeom prst="rect">
              <a:avLst/>
            </a:prstGeom>
          </p:spPr>
        </p:pic>
      </p:grpSp>
      <p:sp>
        <p:nvSpPr>
          <p:cNvPr id="4" name="Freeform 4"/>
          <p:cNvSpPr/>
          <p:nvPr/>
        </p:nvSpPr>
        <p:spPr>
          <a:xfrm>
            <a:off x="569965" y="650381"/>
            <a:ext cx="917470" cy="756638"/>
          </a:xfrm>
          <a:custGeom>
            <a:avLst/>
            <a:gdLst/>
            <a:ahLst/>
            <a:cxnLst/>
            <a:rect l="l" t="t" r="r" b="b"/>
            <a:pathLst>
              <a:path w="917470" h="756638">
                <a:moveTo>
                  <a:pt x="0" y="0"/>
                </a:moveTo>
                <a:lnTo>
                  <a:pt x="917470" y="0"/>
                </a:lnTo>
                <a:lnTo>
                  <a:pt x="917470" y="756638"/>
                </a:lnTo>
                <a:lnTo>
                  <a:pt x="0" y="75663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AutoShape 5"/>
          <p:cNvSpPr/>
          <p:nvPr/>
        </p:nvSpPr>
        <p:spPr>
          <a:xfrm flipH="1">
            <a:off x="1487435" y="9599490"/>
            <a:ext cx="5854765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TextBox 6"/>
          <p:cNvSpPr txBox="1"/>
          <p:nvPr/>
        </p:nvSpPr>
        <p:spPr>
          <a:xfrm>
            <a:off x="1749097" y="466177"/>
            <a:ext cx="6946177" cy="10869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517"/>
              </a:lnSpc>
            </a:pPr>
            <a:r>
              <a:rPr lang="en-US" sz="6896" b="1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Démonstration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17844" y="9242082"/>
            <a:ext cx="1269591" cy="6290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00"/>
              </a:lnSpc>
            </a:pPr>
            <a:r>
              <a:rPr lang="en-US" sz="3357" b="1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10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82715" y="1745438"/>
            <a:ext cx="4943475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2. Test d’authentification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586808" y="2458709"/>
            <a:ext cx="12265089" cy="6907198"/>
            <a:chOff x="0" y="0"/>
            <a:chExt cx="16353452" cy="9209597"/>
          </a:xfrm>
        </p:grpSpPr>
        <p:pic>
          <p:nvPicPr>
            <p:cNvPr id="3" name="Picture 3"/>
            <p:cNvPicPr>
              <a:picLocks noChangeAspect="1"/>
            </p:cNvPicPr>
            <p:nvPr/>
          </p:nvPicPr>
          <p:blipFill>
            <a:blip r:embed="rId2"/>
            <a:srcRect t="9265" b="9265"/>
            <a:stretch>
              <a:fillRect/>
            </a:stretch>
          </p:blipFill>
          <p:spPr>
            <a:xfrm>
              <a:off x="0" y="0"/>
              <a:ext cx="16353452" cy="9209597"/>
            </a:xfrm>
            <a:prstGeom prst="rect">
              <a:avLst/>
            </a:prstGeom>
          </p:spPr>
        </p:pic>
      </p:grpSp>
      <p:sp>
        <p:nvSpPr>
          <p:cNvPr id="4" name="Freeform 4"/>
          <p:cNvSpPr/>
          <p:nvPr/>
        </p:nvSpPr>
        <p:spPr>
          <a:xfrm>
            <a:off x="569965" y="650381"/>
            <a:ext cx="917470" cy="756638"/>
          </a:xfrm>
          <a:custGeom>
            <a:avLst/>
            <a:gdLst/>
            <a:ahLst/>
            <a:cxnLst/>
            <a:rect l="l" t="t" r="r" b="b"/>
            <a:pathLst>
              <a:path w="917470" h="756638">
                <a:moveTo>
                  <a:pt x="0" y="0"/>
                </a:moveTo>
                <a:lnTo>
                  <a:pt x="917470" y="0"/>
                </a:lnTo>
                <a:lnTo>
                  <a:pt x="917470" y="756638"/>
                </a:lnTo>
                <a:lnTo>
                  <a:pt x="0" y="75663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AutoShape 5"/>
          <p:cNvSpPr/>
          <p:nvPr/>
        </p:nvSpPr>
        <p:spPr>
          <a:xfrm flipH="1">
            <a:off x="1487435" y="9599490"/>
            <a:ext cx="5854765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TextBox 6"/>
          <p:cNvSpPr txBox="1"/>
          <p:nvPr/>
        </p:nvSpPr>
        <p:spPr>
          <a:xfrm>
            <a:off x="1749097" y="466177"/>
            <a:ext cx="6946177" cy="10869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517"/>
              </a:lnSpc>
            </a:pPr>
            <a:r>
              <a:rPr lang="en-US" sz="6896" b="1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Démonstration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17844" y="9242082"/>
            <a:ext cx="1269591" cy="6290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00"/>
              </a:lnSpc>
            </a:pPr>
            <a:r>
              <a:rPr lang="en-US" sz="3357" b="1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11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0" y="1745438"/>
            <a:ext cx="7715697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3. Test d’enregistrement de tâches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530DFD-F1BF-E22E-B2D1-9309DF21BC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4">
            <a:extLst>
              <a:ext uri="{FF2B5EF4-FFF2-40B4-BE49-F238E27FC236}">
                <a16:creationId xmlns:a16="http://schemas.microsoft.com/office/drawing/2014/main" id="{106EFE40-7AA2-0CE0-48AE-E83B803FAAC8}"/>
              </a:ext>
            </a:extLst>
          </p:cNvPr>
          <p:cNvSpPr/>
          <p:nvPr/>
        </p:nvSpPr>
        <p:spPr>
          <a:xfrm>
            <a:off x="569965" y="650381"/>
            <a:ext cx="917470" cy="756638"/>
          </a:xfrm>
          <a:custGeom>
            <a:avLst/>
            <a:gdLst/>
            <a:ahLst/>
            <a:cxnLst/>
            <a:rect l="l" t="t" r="r" b="b"/>
            <a:pathLst>
              <a:path w="917470" h="756638">
                <a:moveTo>
                  <a:pt x="0" y="0"/>
                </a:moveTo>
                <a:lnTo>
                  <a:pt x="917470" y="0"/>
                </a:lnTo>
                <a:lnTo>
                  <a:pt x="917470" y="756638"/>
                </a:lnTo>
                <a:lnTo>
                  <a:pt x="0" y="7566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AutoShape 5">
            <a:extLst>
              <a:ext uri="{FF2B5EF4-FFF2-40B4-BE49-F238E27FC236}">
                <a16:creationId xmlns:a16="http://schemas.microsoft.com/office/drawing/2014/main" id="{2BA1DD65-1209-FC95-7062-7E8DF46323B5}"/>
              </a:ext>
            </a:extLst>
          </p:cNvPr>
          <p:cNvSpPr/>
          <p:nvPr/>
        </p:nvSpPr>
        <p:spPr>
          <a:xfrm flipH="1">
            <a:off x="1487435" y="9599490"/>
            <a:ext cx="5854765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EE6092F7-4F15-E91F-926C-13902AA74738}"/>
              </a:ext>
            </a:extLst>
          </p:cNvPr>
          <p:cNvSpPr txBox="1"/>
          <p:nvPr/>
        </p:nvSpPr>
        <p:spPr>
          <a:xfrm>
            <a:off x="1749097" y="466177"/>
            <a:ext cx="6946177" cy="10869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517"/>
              </a:lnSpc>
            </a:pPr>
            <a:r>
              <a:rPr lang="en-US" sz="6896" b="1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Démonstration 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AE9F2BD0-4D97-0579-FA25-0A90DF4C9A69}"/>
              </a:ext>
            </a:extLst>
          </p:cNvPr>
          <p:cNvSpPr txBox="1"/>
          <p:nvPr/>
        </p:nvSpPr>
        <p:spPr>
          <a:xfrm>
            <a:off x="217844" y="9242082"/>
            <a:ext cx="1269591" cy="5643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00"/>
              </a:lnSpc>
            </a:pPr>
            <a:r>
              <a:rPr lang="en-US" sz="3357" b="1" dirty="0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12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35F8DF49-1124-917A-4ED2-CE08A67C6E0A}"/>
              </a:ext>
            </a:extLst>
          </p:cNvPr>
          <p:cNvSpPr txBox="1"/>
          <p:nvPr/>
        </p:nvSpPr>
        <p:spPr>
          <a:xfrm>
            <a:off x="0" y="1745438"/>
            <a:ext cx="11811000" cy="5741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3.1 </a:t>
            </a:r>
            <a:r>
              <a:rPr lang="en-US" sz="3399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Enregistrement</a:t>
            </a:r>
            <a:r>
              <a:rPr lang="en-US" sz="3399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de la </a:t>
            </a:r>
            <a:r>
              <a:rPr lang="en-US" sz="3399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tâche</a:t>
            </a:r>
            <a:r>
              <a:rPr lang="en-US" sz="3399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sur la base de données</a:t>
            </a: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3B7BE336-CF82-83F7-922F-0909939CAA8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40566"/>
          <a:stretch/>
        </p:blipFill>
        <p:spPr>
          <a:xfrm>
            <a:off x="852639" y="3380560"/>
            <a:ext cx="15493213" cy="2400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70512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91682" y="1553123"/>
            <a:ext cx="11160214" cy="7812783"/>
            <a:chOff x="0" y="0"/>
            <a:chExt cx="14880286" cy="10417045"/>
          </a:xfrm>
        </p:grpSpPr>
        <p:pic>
          <p:nvPicPr>
            <p:cNvPr id="3" name="Picture 3"/>
            <p:cNvPicPr>
              <a:picLocks noChangeAspect="1"/>
            </p:cNvPicPr>
            <p:nvPr/>
          </p:nvPicPr>
          <p:blipFill>
            <a:blip r:embed="rId2"/>
            <a:srcRect l="93" r="93"/>
            <a:stretch>
              <a:fillRect/>
            </a:stretch>
          </p:blipFill>
          <p:spPr>
            <a:xfrm>
              <a:off x="0" y="0"/>
              <a:ext cx="14880286" cy="10417045"/>
            </a:xfrm>
            <a:prstGeom prst="rect">
              <a:avLst/>
            </a:prstGeom>
          </p:spPr>
        </p:pic>
      </p:grpSp>
      <p:sp>
        <p:nvSpPr>
          <p:cNvPr id="4" name="Freeform 4"/>
          <p:cNvSpPr/>
          <p:nvPr/>
        </p:nvSpPr>
        <p:spPr>
          <a:xfrm>
            <a:off x="569965" y="650381"/>
            <a:ext cx="917470" cy="756638"/>
          </a:xfrm>
          <a:custGeom>
            <a:avLst/>
            <a:gdLst/>
            <a:ahLst/>
            <a:cxnLst/>
            <a:rect l="l" t="t" r="r" b="b"/>
            <a:pathLst>
              <a:path w="917470" h="756638">
                <a:moveTo>
                  <a:pt x="0" y="0"/>
                </a:moveTo>
                <a:lnTo>
                  <a:pt x="917470" y="0"/>
                </a:lnTo>
                <a:lnTo>
                  <a:pt x="917470" y="756638"/>
                </a:lnTo>
                <a:lnTo>
                  <a:pt x="0" y="75663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AutoShape 5"/>
          <p:cNvSpPr/>
          <p:nvPr/>
        </p:nvSpPr>
        <p:spPr>
          <a:xfrm flipH="1">
            <a:off x="1487435" y="9599490"/>
            <a:ext cx="5854765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TextBox 6"/>
          <p:cNvSpPr txBox="1"/>
          <p:nvPr/>
        </p:nvSpPr>
        <p:spPr>
          <a:xfrm>
            <a:off x="1749097" y="466177"/>
            <a:ext cx="6946177" cy="10869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517"/>
              </a:lnSpc>
            </a:pPr>
            <a:r>
              <a:rPr lang="en-US" sz="6896" b="1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Démonstration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17844" y="9242082"/>
            <a:ext cx="1269591" cy="5643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00"/>
              </a:lnSpc>
            </a:pPr>
            <a:r>
              <a:rPr lang="en-US" sz="3357" b="1" dirty="0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13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17845" y="1764427"/>
            <a:ext cx="6473838" cy="11804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4. Test de limitation sur </a:t>
            </a:r>
            <a:r>
              <a:rPr lang="en-US" sz="3399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l’accés</a:t>
            </a:r>
            <a:r>
              <a:rPr lang="en-US" sz="3399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aux données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17844" y="4563110"/>
            <a:ext cx="6262897" cy="1180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84A5E7"/>
                </a:solidFill>
                <a:latin typeface="Open Sans"/>
                <a:ea typeface="Open Sans"/>
                <a:cs typeface="Open Sans"/>
                <a:sym typeface="Open Sans"/>
              </a:rPr>
              <a:t>Cas 1 :</a:t>
            </a: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L’user n’appartient pas au département RH/HR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91682" y="1553123"/>
            <a:ext cx="11160214" cy="7812783"/>
            <a:chOff x="0" y="0"/>
            <a:chExt cx="14880286" cy="10417045"/>
          </a:xfrm>
        </p:grpSpPr>
        <p:pic>
          <p:nvPicPr>
            <p:cNvPr id="3" name="Picture 3"/>
            <p:cNvPicPr>
              <a:picLocks noChangeAspect="1"/>
            </p:cNvPicPr>
            <p:nvPr/>
          </p:nvPicPr>
          <p:blipFill>
            <a:blip r:embed="rId2"/>
            <a:srcRect t="5692" b="5692"/>
            <a:stretch>
              <a:fillRect/>
            </a:stretch>
          </p:blipFill>
          <p:spPr>
            <a:xfrm>
              <a:off x="0" y="0"/>
              <a:ext cx="14880286" cy="10417045"/>
            </a:xfrm>
            <a:prstGeom prst="rect">
              <a:avLst/>
            </a:prstGeom>
          </p:spPr>
        </p:pic>
      </p:grpSp>
      <p:sp>
        <p:nvSpPr>
          <p:cNvPr id="4" name="Freeform 4"/>
          <p:cNvSpPr/>
          <p:nvPr/>
        </p:nvSpPr>
        <p:spPr>
          <a:xfrm>
            <a:off x="569965" y="650381"/>
            <a:ext cx="917470" cy="756638"/>
          </a:xfrm>
          <a:custGeom>
            <a:avLst/>
            <a:gdLst/>
            <a:ahLst/>
            <a:cxnLst/>
            <a:rect l="l" t="t" r="r" b="b"/>
            <a:pathLst>
              <a:path w="917470" h="756638">
                <a:moveTo>
                  <a:pt x="0" y="0"/>
                </a:moveTo>
                <a:lnTo>
                  <a:pt x="917470" y="0"/>
                </a:lnTo>
                <a:lnTo>
                  <a:pt x="917470" y="756638"/>
                </a:lnTo>
                <a:lnTo>
                  <a:pt x="0" y="75663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AutoShape 5"/>
          <p:cNvSpPr/>
          <p:nvPr/>
        </p:nvSpPr>
        <p:spPr>
          <a:xfrm flipH="1">
            <a:off x="1487435" y="9599490"/>
            <a:ext cx="5854765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TextBox 6"/>
          <p:cNvSpPr txBox="1"/>
          <p:nvPr/>
        </p:nvSpPr>
        <p:spPr>
          <a:xfrm>
            <a:off x="1749097" y="466177"/>
            <a:ext cx="6946177" cy="10869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517"/>
              </a:lnSpc>
            </a:pPr>
            <a:r>
              <a:rPr lang="en-US" sz="6896" b="1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Démonstration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17844" y="9242082"/>
            <a:ext cx="1269591" cy="5643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00"/>
              </a:lnSpc>
            </a:pPr>
            <a:r>
              <a:rPr lang="en-US" sz="3357" b="1" dirty="0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14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0" y="1745438"/>
            <a:ext cx="6908905" cy="1180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4. Test de limitation sur l’accés aux données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17844" y="4563110"/>
            <a:ext cx="6262897" cy="1180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84A5E7"/>
                </a:solidFill>
                <a:latin typeface="Open Sans"/>
                <a:ea typeface="Open Sans"/>
                <a:cs typeface="Open Sans"/>
                <a:sym typeface="Open Sans"/>
              </a:rPr>
              <a:t>Cas 2 :</a:t>
            </a: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L’user appartient au département RH/HR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9673927" cy="10708316"/>
            <a:chOff x="0" y="0"/>
            <a:chExt cx="2547865" cy="282029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547865" cy="2820297"/>
            </a:xfrm>
            <a:custGeom>
              <a:avLst/>
              <a:gdLst/>
              <a:ahLst/>
              <a:cxnLst/>
              <a:rect l="l" t="t" r="r" b="b"/>
              <a:pathLst>
                <a:path w="2547865" h="2820297">
                  <a:moveTo>
                    <a:pt x="0" y="0"/>
                  </a:moveTo>
                  <a:lnTo>
                    <a:pt x="2547865" y="0"/>
                  </a:lnTo>
                  <a:lnTo>
                    <a:pt x="2547865" y="2820297"/>
                  </a:lnTo>
                  <a:lnTo>
                    <a:pt x="0" y="2820297"/>
                  </a:lnTo>
                  <a:close/>
                </a:path>
              </a:pathLst>
            </a:custGeom>
            <a:solidFill>
              <a:srgbClr val="82C2E6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547865" cy="28583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677047" y="7128324"/>
            <a:ext cx="15662715" cy="2721397"/>
          </a:xfrm>
          <a:custGeom>
            <a:avLst/>
            <a:gdLst/>
            <a:ahLst/>
            <a:cxnLst/>
            <a:rect l="l" t="t" r="r" b="b"/>
            <a:pathLst>
              <a:path w="15662715" h="2721397">
                <a:moveTo>
                  <a:pt x="0" y="0"/>
                </a:moveTo>
                <a:lnTo>
                  <a:pt x="15662715" y="0"/>
                </a:lnTo>
                <a:lnTo>
                  <a:pt x="15662715" y="2721397"/>
                </a:lnTo>
                <a:lnTo>
                  <a:pt x="0" y="27213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6000"/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2277501" y="1559018"/>
            <a:ext cx="14603525" cy="7168964"/>
            <a:chOff x="0" y="0"/>
            <a:chExt cx="5233574" cy="256919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233574" cy="2569195"/>
            </a:xfrm>
            <a:custGeom>
              <a:avLst/>
              <a:gdLst/>
              <a:ahLst/>
              <a:cxnLst/>
              <a:rect l="l" t="t" r="r" b="b"/>
              <a:pathLst>
                <a:path w="5233574" h="2569195">
                  <a:moveTo>
                    <a:pt x="29688" y="0"/>
                  </a:moveTo>
                  <a:lnTo>
                    <a:pt x="5203886" y="0"/>
                  </a:lnTo>
                  <a:cubicBezTo>
                    <a:pt x="5220282" y="0"/>
                    <a:pt x="5233574" y="13292"/>
                    <a:pt x="5233574" y="29688"/>
                  </a:cubicBezTo>
                  <a:lnTo>
                    <a:pt x="5233574" y="2539507"/>
                  </a:lnTo>
                  <a:cubicBezTo>
                    <a:pt x="5233574" y="2547381"/>
                    <a:pt x="5230446" y="2554932"/>
                    <a:pt x="5224879" y="2560500"/>
                  </a:cubicBezTo>
                  <a:cubicBezTo>
                    <a:pt x="5219311" y="2566067"/>
                    <a:pt x="5211760" y="2569195"/>
                    <a:pt x="5203886" y="2569195"/>
                  </a:cubicBezTo>
                  <a:lnTo>
                    <a:pt x="29688" y="2569195"/>
                  </a:lnTo>
                  <a:cubicBezTo>
                    <a:pt x="21814" y="2569195"/>
                    <a:pt x="14263" y="2566067"/>
                    <a:pt x="8695" y="2560500"/>
                  </a:cubicBezTo>
                  <a:cubicBezTo>
                    <a:pt x="3128" y="2554932"/>
                    <a:pt x="0" y="2547381"/>
                    <a:pt x="0" y="2539507"/>
                  </a:cubicBezTo>
                  <a:lnTo>
                    <a:pt x="0" y="29688"/>
                  </a:lnTo>
                  <a:cubicBezTo>
                    <a:pt x="0" y="21814"/>
                    <a:pt x="3128" y="14263"/>
                    <a:pt x="8695" y="8695"/>
                  </a:cubicBezTo>
                  <a:cubicBezTo>
                    <a:pt x="14263" y="3128"/>
                    <a:pt x="21814" y="0"/>
                    <a:pt x="29688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5233574" cy="26168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52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9144000" y="1559018"/>
            <a:ext cx="7737027" cy="7168964"/>
          </a:xfrm>
          <a:custGeom>
            <a:avLst/>
            <a:gdLst/>
            <a:ahLst/>
            <a:cxnLst/>
            <a:rect l="l" t="t" r="r" b="b"/>
            <a:pathLst>
              <a:path w="7737027" h="7168964">
                <a:moveTo>
                  <a:pt x="0" y="0"/>
                </a:moveTo>
                <a:lnTo>
                  <a:pt x="7737027" y="0"/>
                </a:lnTo>
                <a:lnTo>
                  <a:pt x="7737027" y="7168964"/>
                </a:lnTo>
                <a:lnTo>
                  <a:pt x="0" y="71689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31" r="-23868" b="-131"/>
            </a:stretch>
          </a:blipFill>
        </p:spPr>
      </p:sp>
      <p:grpSp>
        <p:nvGrpSpPr>
          <p:cNvPr id="10" name="Group 10"/>
          <p:cNvGrpSpPr/>
          <p:nvPr/>
        </p:nvGrpSpPr>
        <p:grpSpPr>
          <a:xfrm>
            <a:off x="6587827" y="1559018"/>
            <a:ext cx="3086100" cy="7168964"/>
            <a:chOff x="0" y="0"/>
            <a:chExt cx="812800" cy="1888122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1888122"/>
            </a:xfrm>
            <a:custGeom>
              <a:avLst/>
              <a:gdLst/>
              <a:ahLst/>
              <a:cxnLst/>
              <a:rect l="l" t="t" r="r" b="b"/>
              <a:pathLst>
                <a:path w="812800" h="1888122">
                  <a:moveTo>
                    <a:pt x="0" y="0"/>
                  </a:moveTo>
                  <a:lnTo>
                    <a:pt x="812800" y="0"/>
                  </a:lnTo>
                  <a:lnTo>
                    <a:pt x="812800" y="1888122"/>
                  </a:lnTo>
                  <a:lnTo>
                    <a:pt x="0" y="188812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812800" cy="192622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3" name="Freeform 13"/>
          <p:cNvSpPr/>
          <p:nvPr/>
        </p:nvSpPr>
        <p:spPr>
          <a:xfrm>
            <a:off x="16881027" y="671982"/>
            <a:ext cx="917470" cy="756638"/>
          </a:xfrm>
          <a:custGeom>
            <a:avLst/>
            <a:gdLst/>
            <a:ahLst/>
            <a:cxnLst/>
            <a:rect l="l" t="t" r="r" b="b"/>
            <a:pathLst>
              <a:path w="917470" h="756638">
                <a:moveTo>
                  <a:pt x="0" y="0"/>
                </a:moveTo>
                <a:lnTo>
                  <a:pt x="917470" y="0"/>
                </a:lnTo>
                <a:lnTo>
                  <a:pt x="917470" y="756638"/>
                </a:lnTo>
                <a:lnTo>
                  <a:pt x="0" y="7566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4" name="AutoShape 14"/>
          <p:cNvSpPr/>
          <p:nvPr/>
        </p:nvSpPr>
        <p:spPr>
          <a:xfrm flipH="1" flipV="1">
            <a:off x="2800793" y="2246683"/>
            <a:ext cx="0" cy="5540773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5" name="TextBox 15"/>
          <p:cNvSpPr txBox="1"/>
          <p:nvPr/>
        </p:nvSpPr>
        <p:spPr>
          <a:xfrm>
            <a:off x="3129660" y="4104727"/>
            <a:ext cx="6343207" cy="20394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517"/>
              </a:lnSpc>
            </a:pPr>
            <a:r>
              <a:rPr lang="en-US" sz="6896" b="1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Merci pour votre attention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444</Words>
  <Application>Microsoft Office PowerPoint</Application>
  <PresentationFormat>Personnalisé</PresentationFormat>
  <Paragraphs>79</Paragraphs>
  <Slides>17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17</vt:i4>
      </vt:variant>
    </vt:vector>
  </HeadingPairs>
  <TitlesOfParts>
    <vt:vector size="23" baseType="lpstr">
      <vt:lpstr>Codec Pro Bold</vt:lpstr>
      <vt:lpstr>Arial</vt:lpstr>
      <vt:lpstr>Open Sans</vt:lpstr>
      <vt:lpstr>Calibri</vt:lpstr>
      <vt:lpstr>Codec Pro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de l’entreprise</dc:title>
  <cp:lastModifiedBy>Amal Belabadia</cp:lastModifiedBy>
  <cp:revision>2</cp:revision>
  <dcterms:created xsi:type="dcterms:W3CDTF">2006-08-16T00:00:00Z</dcterms:created>
  <dcterms:modified xsi:type="dcterms:W3CDTF">2025-04-08T07:56:24Z</dcterms:modified>
  <dc:identifier>DAGi1C8Hn6o</dc:identifier>
</cp:coreProperties>
</file>